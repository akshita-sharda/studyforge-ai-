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98a4111084973" /><Relationship Type="http://schemas.openxmlformats.org/officeDocument/2006/relationships/extended-properties" Target="/docProps/app.xml" Id="R3b1f5f092d3f4d8f" /><Relationship Type="http://schemas.openxmlformats.org/officeDocument/2006/relationships/officeDocument" Target="/ppt/presentation.xml" Id="R3c775d1c7493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3ad664f0f4b84"/>
  </p:sldMasterIdLst>
  <p:notesMasterIdLst>
    <p:notesMasterId xmlns:r="http://schemas.openxmlformats.org/officeDocument/2006/relationships" r:id="R9663452aa3c34436"/>
  </p:notesMasterIdLst>
  <p:sldIdLst>
    <p:sldId xmlns:r="http://schemas.openxmlformats.org/officeDocument/2006/relationships" id="256" r:id="R94b3211894ef4027"/>
    <p:sldId xmlns:r="http://schemas.openxmlformats.org/officeDocument/2006/relationships" id="257" r:id="R5bb5d24d1c924e14"/>
    <p:sldId xmlns:r="http://schemas.openxmlformats.org/officeDocument/2006/relationships" id="258" r:id="Rec309b663e18496b"/>
    <p:sldId xmlns:r="http://schemas.openxmlformats.org/officeDocument/2006/relationships" id="259" r:id="Re11d48ba7c0640ac"/>
    <p:sldId xmlns:r="http://schemas.openxmlformats.org/officeDocument/2006/relationships" id="260" r:id="Rc41f2e6ac6fc4a2f"/>
    <p:sldId xmlns:r="http://schemas.openxmlformats.org/officeDocument/2006/relationships" id="261" r:id="Rdccba239394447b8"/>
    <p:sldId xmlns:r="http://schemas.openxmlformats.org/officeDocument/2006/relationships" id="262" r:id="Reb1b2d73f7c94fe2"/>
    <p:sldId xmlns:r="http://schemas.openxmlformats.org/officeDocument/2006/relationships" id="263" r:id="R3feacead44bc4b43"/>
    <p:sldId xmlns:r="http://schemas.openxmlformats.org/officeDocument/2006/relationships" id="264" r:id="R76af64f95b3c4867"/>
    <p:sldId xmlns:r="http://schemas.openxmlformats.org/officeDocument/2006/relationships" id="265" r:id="Rb25675450bb748df"/>
    <p:sldId xmlns:r="http://schemas.openxmlformats.org/officeDocument/2006/relationships" id="266" r:id="R229d71637f104e47"/>
    <p:sldId xmlns:r="http://schemas.openxmlformats.org/officeDocument/2006/relationships" id="267" r:id="Rc38eaaa6891a4f52"/>
    <p:sldId xmlns:r="http://schemas.openxmlformats.org/officeDocument/2006/relationships" id="268" r:id="R08ad2630733444a3"/>
    <p:sldId xmlns:r="http://schemas.openxmlformats.org/officeDocument/2006/relationships" id="269" r:id="Rb0197498a20749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0b1d845ee4b79" /><Relationship Type="http://schemas.openxmlformats.org/officeDocument/2006/relationships/slideMaster" Target="/ppt/slideMasters/slideMaster1.xml" Id="R0663ad664f0f4b84" /><Relationship Type="http://schemas.openxmlformats.org/officeDocument/2006/relationships/notesMaster" Target="/ppt/notesMasters/notesMaster1.xml" Id="R9663452aa3c34436" /><Relationship Type="http://schemas.openxmlformats.org/officeDocument/2006/relationships/presProps" Target="/ppt/presProps.xml" Id="Ra43508dbb3f246b0" /><Relationship Type="http://schemas.openxmlformats.org/officeDocument/2006/relationships/tableStyles" Target="/ppt/tableStyles.xml" Id="Raa9d4a5a50074b15" /><Relationship Type="http://schemas.openxmlformats.org/officeDocument/2006/relationships/slide" Target="/ppt/slides/slide1.xml" Id="R94b3211894ef4027" /><Relationship Type="http://schemas.openxmlformats.org/officeDocument/2006/relationships/slide" Target="/ppt/slides/slide2.xml" Id="R5bb5d24d1c924e14" /><Relationship Type="http://schemas.openxmlformats.org/officeDocument/2006/relationships/slide" Target="/ppt/slides/slide3.xml" Id="Rec309b663e18496b" /><Relationship Type="http://schemas.openxmlformats.org/officeDocument/2006/relationships/slide" Target="/ppt/slides/slide4.xml" Id="Re11d48ba7c0640ac" /><Relationship Type="http://schemas.openxmlformats.org/officeDocument/2006/relationships/slide" Target="/ppt/slides/slide5.xml" Id="Rc41f2e6ac6fc4a2f" /><Relationship Type="http://schemas.openxmlformats.org/officeDocument/2006/relationships/slide" Target="/ppt/slides/slide6.xml" Id="Rdccba239394447b8" /><Relationship Type="http://schemas.openxmlformats.org/officeDocument/2006/relationships/slide" Target="/ppt/slides/slide7.xml" Id="Reb1b2d73f7c94fe2" /><Relationship Type="http://schemas.openxmlformats.org/officeDocument/2006/relationships/slide" Target="/ppt/slides/slide8.xml" Id="R3feacead44bc4b43" /><Relationship Type="http://schemas.openxmlformats.org/officeDocument/2006/relationships/slide" Target="/ppt/slides/slide9.xml" Id="R76af64f95b3c4867" /><Relationship Type="http://schemas.openxmlformats.org/officeDocument/2006/relationships/slide" Target="/ppt/slides/slide10.xml" Id="Rb25675450bb748df" /><Relationship Type="http://schemas.openxmlformats.org/officeDocument/2006/relationships/slide" Target="/ppt/slides/slide11.xml" Id="R229d71637f104e47" /><Relationship Type="http://schemas.openxmlformats.org/officeDocument/2006/relationships/slide" Target="/ppt/slides/slide12.xml" Id="Rc38eaaa6891a4f52" /><Relationship Type="http://schemas.openxmlformats.org/officeDocument/2006/relationships/slide" Target="/ppt/slides/slide13.xml" Id="R08ad2630733444a3" /><Relationship Type="http://schemas.openxmlformats.org/officeDocument/2006/relationships/slide" Target="/ppt/slides/slide14.xml" Id="Rb0197498a207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3ec167a1f47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2faf3e119d4223" /><Relationship Type="http://schemas.openxmlformats.org/officeDocument/2006/relationships/notesMaster" Target="/ppt/notesMasters/notesMaster1.xml" Id="Rb8741f45d1274d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37170d1cfd4981" /><Relationship Type="http://schemas.openxmlformats.org/officeDocument/2006/relationships/notesMaster" Target="/ppt/notesMasters/notesMaster1.xml" Id="R64e91544f737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b423aa3c64f0d" /><Relationship Type="http://schemas.openxmlformats.org/officeDocument/2006/relationships/notesMaster" Target="/ppt/notesMasters/notesMaster1.xml" Id="Re97a839d256f43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84471aa4b844c4" /><Relationship Type="http://schemas.openxmlformats.org/officeDocument/2006/relationships/notesMaster" Target="/ppt/notesMasters/notesMaster1.xml" Id="R5ed36c9ef26b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4c727b0b94419" /><Relationship Type="http://schemas.openxmlformats.org/officeDocument/2006/relationships/notesMaster" Target="/ppt/notesMasters/notesMaster1.xml" Id="R556a150241e4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78ba573eba48a1" /><Relationship Type="http://schemas.openxmlformats.org/officeDocument/2006/relationships/notesMaster" Target="/ppt/notesMasters/notesMaster1.xml" Id="R2b46e30b626445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d1f9b6d4a4a44" /><Relationship Type="http://schemas.openxmlformats.org/officeDocument/2006/relationships/notesMaster" Target="/ppt/notesMasters/notesMaster1.xml" Id="R3fad9a76169547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7156c3e2994ca7" /><Relationship Type="http://schemas.openxmlformats.org/officeDocument/2006/relationships/notesMaster" Target="/ppt/notesMasters/notesMaster1.xml" Id="Re4f30eb2545d42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e2ebc41e774222" /><Relationship Type="http://schemas.openxmlformats.org/officeDocument/2006/relationships/notesMaster" Target="/ppt/notesMasters/notesMaster1.xml" Id="Re238b39bb7db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98c419fa64084" /><Relationship Type="http://schemas.openxmlformats.org/officeDocument/2006/relationships/notesMaster" Target="/ppt/notesMasters/notesMaster1.xml" Id="Rf299c706ba1948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5fe493991e43d3" /><Relationship Type="http://schemas.openxmlformats.org/officeDocument/2006/relationships/notesMaster" Target="/ppt/notesMasters/notesMaster1.xml" Id="Rf5601af350a249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7dcdc739fc4176" /><Relationship Type="http://schemas.openxmlformats.org/officeDocument/2006/relationships/notesMaster" Target="/ppt/notesMasters/notesMaster1.xml" Id="R06fc24dcad614b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c3142691b6409e" /><Relationship Type="http://schemas.openxmlformats.org/officeDocument/2006/relationships/notesMaster" Target="/ppt/notesMasters/notesMaster1.xml" Id="R241a27bc978f48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29647be8f04c59" /><Relationship Type="http://schemas.openxmlformats.org/officeDocument/2006/relationships/notesMaster" Target="/ppt/notesMasters/notesMaster1.xml" Id="R87df84d572b9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Introduce the team. State that Manik presents the frontend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Start with the real student problem, then explain the project as one connected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product in four actions. These are the project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brief feature tour. Aasveer can mention each capability in one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that the backend is the controlled layer between what the student clicks and how data or AI is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an everyday explanation: endpoints are doors in the backend that receive a request and send an organised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the retrieval flow in simple language. Find the relevant notes first, then compose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explains the frontend as the visible layer that helps students reach the next action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the screenshots to describe the user journey: first orient on the dashboard, then ask a study question with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Make an honest distinction: the avatar is 3D-styled in the UI, designed to feel visual and personal.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the fallback: a provider issue should not stop the student from practising.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Summarise the validation: targeted backend tests, fallback behaviour, frontend build and browser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Close with realistic next steps that build on the current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actual application. Keep the final interaction shared across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628efa3c644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79a4f9db7c4177" /><Relationship Type="http://schemas.openxmlformats.org/officeDocument/2006/relationships/slideLayout" Target="/ppt/slideLayouts/slideLayout1.xml" Id="R109ef4b94e924b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ef4b94e924b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ff55713d74302" /><Relationship Type="http://schemas.openxmlformats.org/officeDocument/2006/relationships/image" Target="/ppt/media/image.png" Id="R2b069af43c2044b7" /><Relationship Type="http://schemas.openxmlformats.org/officeDocument/2006/relationships/notesSlide" Target="/ppt/notesSlides/notesSlide1.xml" Id="R2bd6436fefa94a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a006fe2d1477f" /><Relationship Type="http://schemas.openxmlformats.org/officeDocument/2006/relationships/image" Target="/ppt/media/image2.png" Id="R573ca70231af4a70" /><Relationship Type="http://schemas.openxmlformats.org/officeDocument/2006/relationships/notesSlide" Target="/ppt/notesSlides/notesSlide2.xml" Id="R03804191853449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085e32954aa0" /><Relationship Type="http://schemas.openxmlformats.org/officeDocument/2006/relationships/notesSlide" Target="/ppt/notesSlides/notesSlide3.xml" Id="R7ef04efc99f4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961cbcc44d19" /><Relationship Type="http://schemas.openxmlformats.org/officeDocument/2006/relationships/image" Target="/ppt/media/image3.png" Id="R1a04a2e4b01243cd" /><Relationship Type="http://schemas.openxmlformats.org/officeDocument/2006/relationships/notesSlide" Target="/ppt/notesSlides/notesSlide4.xml" Id="R9f8907c3326c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c12fc355f4f98" /><Relationship Type="http://schemas.openxmlformats.org/officeDocument/2006/relationships/notesSlide" Target="/ppt/notesSlides/notesSlide5.xml" Id="Reb302450899d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f850d3a0242ef" /><Relationship Type="http://schemas.openxmlformats.org/officeDocument/2006/relationships/image" Target="/ppt/media/image4.png" Id="R7ac5a4341f654a8b" /><Relationship Type="http://schemas.openxmlformats.org/officeDocument/2006/relationships/notesSlide" Target="/ppt/notesSlides/notesSlide6.xml" Id="R614e21d166c343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902d2ae044635" /><Relationship Type="http://schemas.openxmlformats.org/officeDocument/2006/relationships/notesSlide" Target="/ppt/notesSlides/notesSlide7.xml" Id="Rc0c705dbf1a3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71cd50bf4816" /><Relationship Type="http://schemas.openxmlformats.org/officeDocument/2006/relationships/image" Target="/ppt/media/image5.png" Id="Rd44ae3ffff08467c" /><Relationship Type="http://schemas.openxmlformats.org/officeDocument/2006/relationships/notesSlide" Target="/ppt/notesSlides/notesSlide8.xml" Id="R41aa72edbf92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673e8c7414063" /><Relationship Type="http://schemas.openxmlformats.org/officeDocument/2006/relationships/image" Target="/ppt/media/image6.png" Id="R1d7a5548ef4c41e3" /><Relationship Type="http://schemas.openxmlformats.org/officeDocument/2006/relationships/image" Target="/ppt/media/image7.png" Id="R2fdf7743436c42ba" /><Relationship Type="http://schemas.openxmlformats.org/officeDocument/2006/relationships/notesSlide" Target="/ppt/notesSlides/notesSlide9.xml" Id="Rdd8365d5ce1540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0be6583494982" /><Relationship Type="http://schemas.openxmlformats.org/officeDocument/2006/relationships/image" Target="/ppt/media/image8.png" Id="Re29bb8df1b7a4ffe" /><Relationship Type="http://schemas.openxmlformats.org/officeDocument/2006/relationships/notesSlide" Target="/ppt/notesSlides/notesSlide10.xml" Id="R92d402026bba42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8adda26f04768" /><Relationship Type="http://schemas.openxmlformats.org/officeDocument/2006/relationships/image" Target="/ppt/media/image9.png" Id="R8c9e89b156b447a0" /><Relationship Type="http://schemas.openxmlformats.org/officeDocument/2006/relationships/notesSlide" Target="/ppt/notesSlides/notesSlide11.xml" Id="R7fdc9101dea347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c6e53bd44027" /><Relationship Type="http://schemas.openxmlformats.org/officeDocument/2006/relationships/notesSlide" Target="/ppt/notesSlides/notesSlide12.xml" Id="R9a190e43a66a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fee76e1714d5c" /><Relationship Type="http://schemas.openxmlformats.org/officeDocument/2006/relationships/image" Target="/ppt/media/image10.png" Id="R40afc836f3c847e6" /><Relationship Type="http://schemas.openxmlformats.org/officeDocument/2006/relationships/notesSlide" Target="/ppt/notesSlides/notesSlide13.xml" Id="Ra9bfb2a9144349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5f1975e8640cd" /><Relationship Type="http://schemas.openxmlformats.org/officeDocument/2006/relationships/notesSlide" Target="/ppt/notesSlides/notesSlide14.xml" Id="Re26f724f97d64a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8320A-98DA-4571-AE2A-3F255D3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97E86-E8A6-4AE6-95CE-559E259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6BC9-C53C-4F04-BB3C-E78D08B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F462-2B09-49DA-B099-8FF20C6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01  ·  Team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AD8DF-4028-4DD4-BE30-DB616F2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A7D80-EC80-490B-856E-101CEB2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488BA-890B-4521-BE2F-73AF991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4A7E-C433-4307-A8DD-A0EE000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8DF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DFF4"/>
                </a:solidFill>
                <a:latin typeface="Arial"/>
                <a:ea typeface="Arial"/>
                <a:cs typeface="Arial"/>
              </a:rPr>
              <a:t>A study companion that turns class material into focused practice.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9af43c2044b7"/>
          <a:srcRect xmlns:a="http://schemas.openxmlformats.org/drawingml/2006/main" l="0" t="4760" r="0" b="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D195-B508-40FB-AD21-0F49D20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495800" cy="3381375"/>
          </a:xfrm>
          <a:prstGeom xmlns:a="http://schemas.openxmlformats.org/drawingml/2006/main" prst="roundRect">
            <a:avLst>
              <a:gd name="adj" fmla="val 676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A83E1-6B6F-4D9E-AA4C-4078464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667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2E51-54D2-42E5-A980-A2F8C1C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B01E-87A3-4D30-B433-F72C227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Aasveer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FF74-9440-43AA-A2A2-A35D905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0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959CE-FCCE-40D2-9E82-6C458A3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673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Frontend 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726AE-5470-4D50-BF51-49369E0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Manik Jasrotia</a:t>
            </a:r>
          </a:p>
        </p:txBody>
      </p:sp>
    </p:spTree>
    <p:extLst>
      <p:ext uri="{BB962C8B-B14F-4D97-AF65-F5344CB8AC3E}">
        <p14:creationId xmlns:p14="http://schemas.microsoft.com/office/powerpoint/2010/main" val="1607223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65C1-0BC6-47F4-A536-8CF0010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8D1E-97F4-4CC6-833F-FA88303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FBA6C-BCE2-491C-9F57-D0813FD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02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20F35-5F90-4BF5-85A6-8CA096DF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STUDENT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EDF0-49C1-4F78-94FD-420DDAC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Learning material is everywhere. A study workflow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6E-16AA-4F05-A7AB-F56EEE6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turns scattered notes into an organised study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B3073-042F-4799-98C0-147A008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8289-BF6B-4B31-9E3F-3D23462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often switch</a:t>
            </a:r>
          </a:p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PDFs, browser tabs</a:t>
            </a:r>
          </a:p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separate practice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F9A20-BD05-47DA-AB03-A15009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4DA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4DAF2"/>
                </a:solidFill>
                <a:latin typeface="Arial"/>
                <a:ea typeface="Arial"/>
                <a:cs typeface="Arial"/>
              </a:rPr>
              <a:t>The result is friction at exactly the moment they want to revise.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ca70231af4a70"/>
          <a:srcRect xmlns:a="http://schemas.openxmlformats.org/drawingml/2006/main" l="0" t="27232" r="0" b="27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C157B-BC2A-4046-950A-D738A43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561975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54E1-C0CA-42F3-87BB-72DD928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24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 calmer starting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49EB-E174-46FE-BA67-698A1AC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57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Select material → understand it → practise it → return tomorrow.</a:t>
            </a:r>
          </a:p>
        </p:txBody>
      </p:sp>
    </p:spTree>
    <p:extLst>
      <p:ext uri="{BB962C8B-B14F-4D97-AF65-F5344CB8AC3E}">
        <p14:creationId xmlns:p14="http://schemas.microsoft.com/office/powerpoint/2010/main" val="30229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C0570-4C15-46B3-8852-A865C01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D6830-3B62-4C08-A693-7071FB8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2FB9-D5C7-463E-9892-8BEA80D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9FF0-96BA-4BD9-BB48-D46D5D3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03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F4208-3FE0-49C1-ADEE-92903F4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THE PRODUCT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70DAE-3F1E-4250-8680-80AE57A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study space. Four connected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C76F-7DE7-4DD3-A093-8072113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value lies in moving naturally from material to understanding to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45E8-70A8-4342-927E-748F20C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B8D1-5307-48E2-BC33-6930D87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825C-9B6A-42F9-8CAE-F23E246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051E-F2ED-4D22-97A5-63D3AC9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Upload and keep material ready for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1DBE-E4C3-4119-A4F8-4CBB027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44F6F-B34D-404C-8AC8-77B5CEB3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480FD-533B-4FCC-8C53-137F2824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8542F-44CE-48E2-9BD6-F8C48D0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Ask questions using the selected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7038-D7DE-43B2-9E78-8EEEDA0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C512-1ED2-4C47-BA44-EAD51BB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295DC-E3C7-4DB1-82D0-F974C84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A12A0-B515-4BD9-A767-BB5ABAC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Create distinct flashcards and quizzes.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921FD-F213-4BF8-9401-3966387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23812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1F43D-185D-4EF3-9E05-5A4C2B6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81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5D160-5071-4EEC-842E-DA12DE9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126D6-B0FE-43A7-9798-F5E309C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Plan tasks and make progress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8B64E-6D8D-4B4E-B693-18CD2DC3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answers. A repeatable learning habit.</a:t>
            </a:r>
          </a:p>
        </p:txBody>
      </p:sp>
    </p:spTree>
    <p:extLst>
      <p:ext uri="{BB962C8B-B14F-4D97-AF65-F5344CB8AC3E}">
        <p14:creationId xmlns:p14="http://schemas.microsoft.com/office/powerpoint/2010/main" val="1025318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D2E5B-1C60-4960-A428-D8AA30B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DE4EC-80E0-4E65-82FD-D0BE3D2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F590-3E13-4ADC-B4E3-6DCB91F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04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94ECE-E25D-4C42-91FC-8F23EF1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STUDYFORGE OFFERS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3CB7C-B815-4503-A781-6F2F786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Five useful tools inside one familiar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6E13-D3D4-494D-B428-37D804B9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Each feature solves a small study problem without overloading the student.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7BC10-9DDB-4464-875A-CA0DDB3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EDD41-3399-4B43-AF88-A2BABAB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593C4-1DBD-40FC-BA0F-C838B976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7486A-D81A-4114-8CAC-8A7F385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0F17F-38F1-499F-A10E-3CF4686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25145-71AB-4AC5-8F5C-7EA27C4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432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3DB8E-0E5F-49FD-AE60-2AC1C41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0221-3E0F-4729-9701-3E746D8B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81B79-20FE-47FA-8C0F-CA0355E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49AEC-E24B-479C-87F2-31CD40D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04B34-D22F-41D3-90E6-B314091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B67CD-3DAF-404B-B6C5-1B16CFA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D1BA-9752-42EF-86DF-D8196E5F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6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91140-4213-4438-971A-BB059A7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4DDF3-5EEF-4435-BE27-7B34A15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A focused next step for the study routine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4a2e4b01243cd"/>
          <a:srcRect xmlns:a="http://schemas.openxmlformats.org/drawingml/2006/main" l="0" t="8214" r="0" b="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9D9A0-BC7D-4889-A266-E1E8113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334000" cy="3095625"/>
          </a:xfrm>
          <a:prstGeom xmlns:a="http://schemas.openxmlformats.org/drawingml/2006/main" prst="roundRect">
            <a:avLst>
              <a:gd name="adj" fmla="val 7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85539-C88D-4973-9D85-E72A97E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238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629CB-4B28-42D7-AD5D-9445CBA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625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around student momentum</a:t>
            </a:r>
          </a:p>
        </p:txBody>
      </p:sp>
    </p:spTree>
    <p:extLst>
      <p:ext uri="{BB962C8B-B14F-4D97-AF65-F5344CB8AC3E}">
        <p14:creationId xmlns:p14="http://schemas.microsoft.com/office/powerpoint/2010/main" val="1115565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C75D-DDF8-40A5-8952-54C09F0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9BB92-66F6-442C-BD92-D3455F9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6739B-FB49-4B75-8B4E-554C000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C5AC-7BFD-46B1-8EE5-96C94414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05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CD941-E23E-4982-8E2D-DB53775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D50A-8310-4486-9548-E56E965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architecture keeps the experience responsive and controlled.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ACC4-CE78-4A55-90AF-3CE43B07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backend owns data and AI requests. The frontend focuses on clear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D3ED-6EDB-4434-992C-A10C3CD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8A8E2-AB26-4B1B-BEA8-C04C10C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F9D8-B7DB-48B8-A004-C3889E3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React / 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82B97-1D50-4255-B7D8-CE069AA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696A4-D08A-4861-8CA3-DF805ED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366E-C87E-4CF6-89BF-51C961D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D14C3-5DED-470E-9A8E-F4F811A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FastAPI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9A709-0067-46AD-AD86-0D4DB8E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82F35-347B-482B-99B7-DA20ADF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3FC65-F9BF-4E72-B877-DF5D07E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E8D00-3DA8-4A0F-B75F-CD60FF0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SQLite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F39BB-C2F9-4CEC-A557-5ED6F1C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09ABF-C135-4603-A290-1A6AC9F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1952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E4226-1FA6-4F1D-AF3B-C72B5A7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04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EB88F-8B55-4F5B-81F7-E36A015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+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C5CB-6DFF-4134-94F3-9A95410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 →  Backend  →  Storage and study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467815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09DB4-E7CE-4B1F-9E27-E73BD42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9A39-3609-48DF-8CB1-8428477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D2490-9FB3-47BE-BCCF-ACB2416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06  ·  Akshita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5A75E-0008-49B4-AAD4-9FD0731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B6FF3-51DF-4383-85DF-AA9C31C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 request becomes a useful study result through clear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8C7E-01B2-4FA2-AF58-3FFA3E0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FastAPI exposes the routes. SQLite persists the study experience.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5a4341f654a8b"/>
          <a:srcRect xmlns:a="http://schemas.openxmlformats.org/drawingml/2006/main" l="10588" t="0" r="10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DB283-D47A-498B-B52F-00BD3415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571875" cy="3905250"/>
          </a:xfrm>
          <a:prstGeom xmlns:a="http://schemas.openxmlformats.org/drawingml/2006/main" prst="roundRect">
            <a:avLst>
              <a:gd name="adj" fmla="val 64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5812-E4C3-4B1D-8ECD-DB5288B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71B91-A1B1-4F69-81A6-15A8DC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Accounts and protected personal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70551-450E-40E0-B8F1-8DEB89B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66B1B-81A9-4597-BC2A-54CE714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EFED4-A18C-49B2-B975-8EFCA7C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PDF text becomes smaller searchable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F528A-B2E9-4D57-A015-48E51BA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1F1F4-C498-484E-A1A9-C622E7C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AD3A2-7BA6-4D1E-8B2B-20761DC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14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Chat, flashcards and quiz requests reach the study service.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EB55B-F0DC-43E3-BACE-331D7C7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2D482-3C36-4028-B3F5-ABA147A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08658-985C-47CF-9FB3-DB7A71C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Profiles, tasks and active context are saved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2870-DF9E-4819-B38B-51B03CE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3863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848D7-ECF5-4554-B4CB-82736C99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C9A7-79C6-49ED-9FB5-D802D18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79D7-6405-482E-B58D-9E341B3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F2982-4645-424C-99BC-9F03895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07  · 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9A70-DC90-4E83-98DD-853CFF6F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GROUNDED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D4FE1-F251-4564-A190-8754EF0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 answers start with the student’s chosen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A6B72-4AF2-4F6C-944C-0B2C7FF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Retrieval finds relevant chunks before a response or practice item is generated.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D6B39-DC58-49CE-A551-A403935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BA26-3C1D-48A7-B3F1-D84F1B0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8AB3E-5B6A-4CCA-BFCD-18BD2B5D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2466-AEEB-4D6D-8DFD-CA5A5D9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Read the document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2B042-ED5E-4F1C-A51E-8F4F0DD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F761B-8800-426E-B5FA-A575C970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18E08-9BDE-4FC6-B63F-1D59E8B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9FFD-9BCC-4145-AB2C-8F43F19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Split it into searchable pieces.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6273-A574-4438-88B3-F3610F7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80653-789E-40E9-8849-FBFF67C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62ECB-126D-4F4A-8CF5-D27B9AA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983A1-86F0-4AF6-94C5-A9869953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Retrieve material related to the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EBA00-5577-4434-A401-7F1E4EB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3622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CCBB6-4833-4366-B64A-1B7B4EE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484D-1A62-4E84-B4C4-F071461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9468-0329-4190-8763-63D1418A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Generate a helpful answer or practice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DC80D-6ECC-4CCB-BBC5-A218589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answers using the learner’s selected study source, not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1765007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9C344-BF79-4665-B42D-6CBA7DE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36B1-9C9C-4BF9-BEA6-A9A7FC11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772DD-DF57-4E5B-ACDC-2C5399A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27E1-142A-4C6C-8405-D5A52E0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08  · 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1883-9352-493F-A2BE-C65FE73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FRONTEND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3297-8EDB-4846-9026-13A9D15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interface makes each study task feel clear and inviting.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03A3-C0C0-4DB2-A26B-61F5E9D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ae3ffff08467c"/>
          <a:srcRect xmlns:a="http://schemas.openxmlformats.org/drawingml/2006/main" l="7542" t="0" r="7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D3D5-FFC3-435E-A89A-EEEA364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4495800" cy="3676650"/>
          </a:xfrm>
          <a:prstGeom xmlns:a="http://schemas.openxmlformats.org/drawingml/2006/main" prst="roundRect">
            <a:avLst>
              <a:gd name="adj" fmla="val 621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A98AD-B98C-48E3-96C0-17DE340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191125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73650-C06D-4A98-8F70-5D2C4E3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A969-2538-4E1D-873B-2CDC5A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Clear page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EA4B1-D095-4C89-A194-955C2D9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Dashboard, library, chat, quizzes, planner and profile all use reusable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15448-B9DC-4986-AD25-51A4A0A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CE7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CE7D1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5D166-D729-4A87-AD35-29775AF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2D9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2D9ED"/>
                </a:solidFill>
                <a:latin typeface="Arial"/>
                <a:ea typeface="Arial"/>
                <a:cs typeface="Arial"/>
              </a:rPr>
              <a:t>Layouts adapt across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203495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5406-EF7C-47DC-B14E-57678CF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DE08-4A74-4BE5-BAE2-86CFA92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D4C3-71D1-4A60-98C0-C791A9BF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09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0FFD1-2CA0-4965-BF6E-E22A166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19C9-7602-4FCE-9162-537E287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Less visual noise. More confidence about what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E62F-02B2-4A4E-ACFC-189ADDE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UI uses a warm studio look with simple hierarchy and study-focused actions.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a5548ef4c41e3"/>
          <a:srcRect xmlns:a="http://schemas.openxmlformats.org/drawingml/2006/main" l="0" t="15298" r="0" b="15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D7D93-9D22-4683-8E4F-02F1943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f7743436c42ba"/>
          <a:srcRect xmlns:a="http://schemas.openxmlformats.org/drawingml/2006/main" l="0" t="22473" r="0" b="22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BBE8-B260-4934-BAB6-81DA111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4953000" cy="2857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ED6D5-ED0A-4698-9F47-11F6F9D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71C3-CF4C-4F4F-9452-3BC56AD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292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FC742-DEF5-4144-9BB4-C370EC3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BB4AA-596B-4E62-9741-BF09F88C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292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ASK WITH CONTEXT</a:t>
            </a:r>
          </a:p>
        </p:txBody>
      </p:sp>
    </p:spTree>
    <p:extLst>
      <p:ext uri="{BB962C8B-B14F-4D97-AF65-F5344CB8AC3E}">
        <p14:creationId xmlns:p14="http://schemas.microsoft.com/office/powerpoint/2010/main" val="360203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2155-BF4A-42B3-B0F9-DFADD38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0DD97-ED92-427B-95F4-0430CA6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229A5-3F1B-46BB-BDE0-620C9E6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10  ·  Manik Jasrotia —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B512-E3C3-4062-97B0-40B8A19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PERSONAL, NOT GENERIC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6E11-3950-40F7-8AC3-6006077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Profile settings and a 3D-styled avatar make the space feel owned.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67AB-479C-47D5-BFC3-80D40A2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C8A8-6C9E-442C-8ADC-C40D6EC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5334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9133D-0E49-43B7-9708-2A352D4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student can personalise their study space with: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DA5F-E205-46BE-BB29-EA6310E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33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profile preferences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theme selection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gender-aware avatar options</a:t>
            </a:r>
          </a:p>
          <a:p xmlns:a="http://schemas.openxmlformats.org/drawingml/2006/main">
            <a:pPr>
              <a:buNone/>
              <a:defRPr sz="1500" b="0">
                <a:solidFill>
                  <a:srgbClr val="EAE2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E2F5"/>
                </a:solidFill>
                <a:latin typeface="Arial"/>
                <a:ea typeface="Arial"/>
                <a:cs typeface="Arial"/>
              </a:rPr>
              <a:t>• a 3D-styled custom avatar experience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bb8df1b7a4ffe"/>
          <a:srcRect xmlns:a="http://schemas.openxmlformats.org/drawingml/2006/main" l="0" t="12771" r="0" b="12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59674-D348-4877-A890-3B63EEA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4000500" cy="4000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2586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832EF-CC0E-4E60-BB2D-2F00ECE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FDE5E-C0A0-488F-B6E9-13BAD48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220D-89C0-4372-AE5E-CF36EDAD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956C-C215-425C-ABBB-2F67322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11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EB4BB-5801-461D-B598-F5BFB1A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PRACTICE THAT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485C-8931-49AD-84F5-9E7BD7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should cover different ideas, not repeat the same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8795A-AE7B-461E-BE45-6B5ACEF2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The quiz and flashcard flow is designed for variety and a reliable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28523-3398-44C7-8E79-9DFBDE7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3D016-0255-4835-B11D-4698BDC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FA481-9187-4673-B3C6-7084C72A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273E8-066D-4CBA-BBFF-E0BA3CD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Prompts request several distinct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F0CDD-F272-4692-8C98-0FDD076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0E036-F6F4-4BB7-9000-C5948AD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F07A9-B9D4-4EA4-A15F-934E016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5FECC-22C4-465D-9850-3880209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D9F28-3FFE-40CF-8F07-85D9B94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05125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1C5F3-CDFA-4609-9C1D-E5BDE8A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4BF76-A5C5-4BEB-879A-CCFC489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01F1C-9A32-48B9-B4EF-1A82B3DD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7625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e89b156b447a0"/>
          <a:srcRect xmlns:a="http://schemas.openxmlformats.org/drawingml/2006/main" l="20217" t="0" r="20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F7BFA-637A-47C0-B009-740FBDE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38375" cy="3238500"/>
          </a:xfrm>
          <a:prstGeom xmlns:a="http://schemas.openxmlformats.org/drawingml/2006/main" prst="roundRect">
            <a:avLst>
              <a:gd name="adj" fmla="val 102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A558E-B42A-428E-B2F1-4539205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If an external AI provider is busy, a local quiz is built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1538047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D392A-5715-4E99-8CFD-64C5505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52DA-EB90-4BB1-AFE3-7165FEC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66C82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D416-BB6A-458A-94C2-D9B2134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12  ·  Aasveer Singh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B3C9-5D6D-4B40-90FE-46672A4B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VALIDATED END TO 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9DBA-CF26-4FCD-94E3-1560DB9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The project was checked from backend behaviour to the running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DF79-72B1-41A0-9396-16F6005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6C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6C82"/>
                </a:solidFill>
                <a:latin typeface="Arial"/>
                <a:ea typeface="Arial"/>
                <a:cs typeface="Arial"/>
              </a:rPr>
              <a:t>The aim was to verify useful outcomes, not only show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D972F-8731-4D6B-A3EB-DFFD4E7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BCE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7B6AA-54BE-45B1-BED1-8186D02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90F7-D178-424C-B7F0-9BEED1E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targeted 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7D3BD-5267-44B5-B7D4-1468834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CDB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94813-1BB8-49EE-9B7F-D2E2269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6206F-9450-4F3F-9666-C52F38C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direct fallback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7B47D-1914-4DB2-889D-524ED57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76AC9-9CA7-48D8-8F2C-F93F976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9DCF1-6279-4783-903D-12913F6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presentation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BCB3E-53B4-45FD-8763-7D8E29E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DF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38E59-4885-407A-A7DC-440AF60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265A7-8426-429D-8550-F1E14F6C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172B"/>
                </a:solidFill>
                <a:latin typeface="Arial"/>
                <a:ea typeface="Arial"/>
                <a:cs typeface="Arial"/>
              </a:rPr>
              <a:t>running local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7837E-1008-49E3-AA34-CF6F744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reliability tests · local quiz fallback · frontend production build · browser review</a:t>
            </a:r>
          </a:p>
        </p:txBody>
      </p:sp>
    </p:spTree>
    <p:extLst>
      <p:ext uri="{BB962C8B-B14F-4D97-AF65-F5344CB8AC3E}">
        <p14:creationId xmlns:p14="http://schemas.microsoft.com/office/powerpoint/2010/main" val="1993537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6831B-CC8F-41B5-8A64-5BCC420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23E7-1F25-4DF2-9545-3C9BA8F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25E11-BE60-4BF0-86DD-DE13B4A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B584C-533C-428E-90EB-6439BF9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13  · 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02F53-57C8-4642-A31B-FDC7944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6064-087B-4A21-9710-2E1BA57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foundation leaves room for a smarter study companion.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4E95-06A6-41D9-97D5-9518619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FD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FD5E9"/>
                </a:solidFill>
                <a:latin typeface="Arial"/>
                <a:ea typeface="Arial"/>
                <a:cs typeface="Arial"/>
              </a:rPr>
              <a:t>Future additions can deepen the same student workflow rather than change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300A-1236-4705-A1DE-6D517DD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95518-00D9-4326-A2C6-E507F3F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Feedback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4B526-3165-4F18-AEC2-2978B4A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Let students rate cards and quizzes.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1FBA-8150-4923-9EB2-32C6A86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10F34-5198-436D-8569-342609E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Learning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5D15D-C758-4CB2-BCCC-0A31029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weak topics and revision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9BCB4-4B0F-45E0-8E69-383B105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F243-73BC-4629-A561-65F6BAA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9E075-2346-4E0C-9FEB-F515062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notes, images and subject templates.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fc836f3c847e6"/>
          <a:srcRect xmlns:a="http://schemas.openxmlformats.org/drawingml/2006/main" l="7562" t="0" r="75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C46DB-60A2-4647-BA28-4F4143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25717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B8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490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2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A14FF-08FE-4EBF-94E9-A51A939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A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70CF-DD98-4731-B19D-63AC734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CD44-5F8B-4779-9754-099C5B0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D1E7"/>
                </a:solidFill>
                <a:latin typeface="Arial"/>
                <a:ea typeface="Arial"/>
                <a:cs typeface="Arial"/>
              </a:rPr>
              <a:t>STUDYFORGE AI   /   MID-TERM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8242E-BC6B-40C8-BD5A-CCA9616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D9D1E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9D1E7"/>
                </a:solidFill>
                <a:latin typeface="Arial"/>
                <a:ea typeface="Arial"/>
                <a:cs typeface="Arial"/>
              </a:rPr>
              <a:t>14  ·  Shared demo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22B5-4C8E-43C0-9A1C-89FB239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CC427-094D-41B9-93B8-D76901E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study loop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02A5-A35B-4FA8-936F-6D9797C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Sign in  →  Select material  →  Ask a question  →  Generate a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1A9DC-50BD-4F41-969E-7F18349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9913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81548-2B7D-4E10-9C84-FA21CE3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FC76-B0E4-4514-B763-ED64B47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3D9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3D9EE"/>
                </a:solidFill>
                <a:latin typeface="Arial"/>
                <a:ea typeface="Arial"/>
                <a:cs typeface="Arial"/>
              </a:rPr>
              <a:t>Thank you for your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7DF21-2179-44C0-BD89-B71F10F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6336-D0F2-4630-BF73-F0F88BD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C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9A8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</p:spTree>
    <p:extLst>
      <p:ext uri="{BB962C8B-B14F-4D97-AF65-F5344CB8AC3E}">
        <p14:creationId xmlns:p14="http://schemas.microsoft.com/office/powerpoint/2010/main" val="81971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2026-10-05T16:36:18.7800000Z</dcterms:created>
  <dcterms:modified xsi:type="dcterms:W3CDTF">2026-10-05T16:36:18.7800000Z</dcterms:modified>
</coreProperties>
</file>