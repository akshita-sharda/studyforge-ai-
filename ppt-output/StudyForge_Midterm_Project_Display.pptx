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197e0f3d9b40f1" /><Relationship Type="http://schemas.openxmlformats.org/officeDocument/2006/relationships/extended-properties" Target="/docProps/app.xml" Id="R52ee1b3e41a04768" /><Relationship Type="http://schemas.openxmlformats.org/officeDocument/2006/relationships/officeDocument" Target="/ppt/presentation.xml" Id="R60ed078a49b3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2cf81f92c49fe"/>
  </p:sldMasterIdLst>
  <p:notesMasterIdLst>
    <p:notesMasterId xmlns:r="http://schemas.openxmlformats.org/officeDocument/2006/relationships" r:id="Rbcf90240803a46bb"/>
  </p:notesMasterIdLst>
  <p:sldIdLst>
    <p:sldId xmlns:r="http://schemas.openxmlformats.org/officeDocument/2006/relationships" id="256" r:id="R966241e9598942cc"/>
    <p:sldId xmlns:r="http://schemas.openxmlformats.org/officeDocument/2006/relationships" id="257" r:id="R420b2e1dea6e4393"/>
    <p:sldId xmlns:r="http://schemas.openxmlformats.org/officeDocument/2006/relationships" id="258" r:id="R346be344f66d4e9a"/>
    <p:sldId xmlns:r="http://schemas.openxmlformats.org/officeDocument/2006/relationships" id="259" r:id="R5eda24ec4f064869"/>
    <p:sldId xmlns:r="http://schemas.openxmlformats.org/officeDocument/2006/relationships" id="260" r:id="Rcfaea498218b453a"/>
    <p:sldId xmlns:r="http://schemas.openxmlformats.org/officeDocument/2006/relationships" id="261" r:id="R9046c503a62144ca"/>
    <p:sldId xmlns:r="http://schemas.openxmlformats.org/officeDocument/2006/relationships" id="262" r:id="R9f886eeae3984960"/>
    <p:sldId xmlns:r="http://schemas.openxmlformats.org/officeDocument/2006/relationships" id="263" r:id="Re498585bdf004ea7"/>
    <p:sldId xmlns:r="http://schemas.openxmlformats.org/officeDocument/2006/relationships" id="264" r:id="Rebb0e8a518dd477b"/>
    <p:sldId xmlns:r="http://schemas.openxmlformats.org/officeDocument/2006/relationships" id="265" r:id="Ra83615c2bf6f4a52"/>
    <p:sldId xmlns:r="http://schemas.openxmlformats.org/officeDocument/2006/relationships" id="266" r:id="R3dbaf031299a415a"/>
    <p:sldId xmlns:r="http://schemas.openxmlformats.org/officeDocument/2006/relationships" id="267" r:id="R4ce7e471d02f4b1c"/>
    <p:sldId xmlns:r="http://schemas.openxmlformats.org/officeDocument/2006/relationships" id="268" r:id="R486b19119a854a62"/>
    <p:sldId xmlns:r="http://schemas.openxmlformats.org/officeDocument/2006/relationships" id="269" r:id="R2b7fdc70542d44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9e8ca3fa4249cb" /><Relationship Type="http://schemas.openxmlformats.org/officeDocument/2006/relationships/slideMaster" Target="/ppt/slideMasters/slideMaster1.xml" Id="Rec92cf81f92c49fe" /><Relationship Type="http://schemas.openxmlformats.org/officeDocument/2006/relationships/notesMaster" Target="/ppt/notesMasters/notesMaster1.xml" Id="Rbcf90240803a46bb" /><Relationship Type="http://schemas.openxmlformats.org/officeDocument/2006/relationships/presProps" Target="/ppt/presProps.xml" Id="R4816447aacee4635" /><Relationship Type="http://schemas.openxmlformats.org/officeDocument/2006/relationships/tableStyles" Target="/ppt/tableStyles.xml" Id="R4ca2045b52574717" /><Relationship Type="http://schemas.openxmlformats.org/officeDocument/2006/relationships/slide" Target="/ppt/slides/slide1.xml" Id="R966241e9598942cc" /><Relationship Type="http://schemas.openxmlformats.org/officeDocument/2006/relationships/slide" Target="/ppt/slides/slide2.xml" Id="R420b2e1dea6e4393" /><Relationship Type="http://schemas.openxmlformats.org/officeDocument/2006/relationships/slide" Target="/ppt/slides/slide3.xml" Id="R346be344f66d4e9a" /><Relationship Type="http://schemas.openxmlformats.org/officeDocument/2006/relationships/slide" Target="/ppt/slides/slide4.xml" Id="R5eda24ec4f064869" /><Relationship Type="http://schemas.openxmlformats.org/officeDocument/2006/relationships/slide" Target="/ppt/slides/slide5.xml" Id="Rcfaea498218b453a" /><Relationship Type="http://schemas.openxmlformats.org/officeDocument/2006/relationships/slide" Target="/ppt/slides/slide6.xml" Id="R9046c503a62144ca" /><Relationship Type="http://schemas.openxmlformats.org/officeDocument/2006/relationships/slide" Target="/ppt/slides/slide7.xml" Id="R9f886eeae3984960" /><Relationship Type="http://schemas.openxmlformats.org/officeDocument/2006/relationships/slide" Target="/ppt/slides/slide8.xml" Id="Re498585bdf004ea7" /><Relationship Type="http://schemas.openxmlformats.org/officeDocument/2006/relationships/slide" Target="/ppt/slides/slide9.xml" Id="Rebb0e8a518dd477b" /><Relationship Type="http://schemas.openxmlformats.org/officeDocument/2006/relationships/slide" Target="/ppt/slides/slide10.xml" Id="Ra83615c2bf6f4a52" /><Relationship Type="http://schemas.openxmlformats.org/officeDocument/2006/relationships/slide" Target="/ppt/slides/slide11.xml" Id="R3dbaf031299a415a" /><Relationship Type="http://schemas.openxmlformats.org/officeDocument/2006/relationships/slide" Target="/ppt/slides/slide12.xml" Id="R4ce7e471d02f4b1c" /><Relationship Type="http://schemas.openxmlformats.org/officeDocument/2006/relationships/slide" Target="/ppt/slides/slide13.xml" Id="R486b19119a854a62" /><Relationship Type="http://schemas.openxmlformats.org/officeDocument/2006/relationships/slide" Target="/ppt/slides/slide14.xml" Id="R2b7fdc70542d44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de2d6e52f47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8cc66f1a24dc6" /><Relationship Type="http://schemas.openxmlformats.org/officeDocument/2006/relationships/notesMaster" Target="/ppt/notesMasters/notesMaster1.xml" Id="R99a401e6fdf9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362bacf3cb4774" /><Relationship Type="http://schemas.openxmlformats.org/officeDocument/2006/relationships/notesMaster" Target="/ppt/notesMasters/notesMaster1.xml" Id="R3c30fc541bfb40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2450a712984ff8" /><Relationship Type="http://schemas.openxmlformats.org/officeDocument/2006/relationships/notesMaster" Target="/ppt/notesMasters/notesMaster1.xml" Id="R41f2870d4bb34c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870e3972b949db" /><Relationship Type="http://schemas.openxmlformats.org/officeDocument/2006/relationships/notesMaster" Target="/ppt/notesMasters/notesMaster1.xml" Id="R8d2334d67e1340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3bed20a554413f" /><Relationship Type="http://schemas.openxmlformats.org/officeDocument/2006/relationships/notesMaster" Target="/ppt/notesMasters/notesMaster1.xml" Id="R4ec7a513542143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f370fdb0c0435b" /><Relationship Type="http://schemas.openxmlformats.org/officeDocument/2006/relationships/notesMaster" Target="/ppt/notesMasters/notesMaster1.xml" Id="Rbf5e7e4b34c942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de7d567a7436a" /><Relationship Type="http://schemas.openxmlformats.org/officeDocument/2006/relationships/notesMaster" Target="/ppt/notesMasters/notesMaster1.xml" Id="R04de01a0ca404f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7ff6221f544761" /><Relationship Type="http://schemas.openxmlformats.org/officeDocument/2006/relationships/notesMaster" Target="/ppt/notesMasters/notesMaster1.xml" Id="R0bd3fe5903ed4d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25fd6d84e943e5" /><Relationship Type="http://schemas.openxmlformats.org/officeDocument/2006/relationships/notesMaster" Target="/ppt/notesMasters/notesMaster1.xml" Id="Rc63102d9d28345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208720cb0548eb" /><Relationship Type="http://schemas.openxmlformats.org/officeDocument/2006/relationships/notesMaster" Target="/ppt/notesMasters/notesMaster1.xml" Id="R46e3751252b040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47b0d241824291" /><Relationship Type="http://schemas.openxmlformats.org/officeDocument/2006/relationships/notesMaster" Target="/ppt/notesMasters/notesMaster1.xml" Id="Rbbcbb29aad644b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91635fe3ca4a77" /><Relationship Type="http://schemas.openxmlformats.org/officeDocument/2006/relationships/notesMaster" Target="/ppt/notesMasters/notesMaster1.xml" Id="R4ed3acee7e6744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c6b0f605914681" /><Relationship Type="http://schemas.openxmlformats.org/officeDocument/2006/relationships/notesMaster" Target="/ppt/notesMasters/notesMaster1.xml" Id="Rd1d2d94cfc0b45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f33b54fcde4f15" /><Relationship Type="http://schemas.openxmlformats.org/officeDocument/2006/relationships/notesMaster" Target="/ppt/notesMasters/notesMaster1.xml" Id="Rf93d3df0f242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Open by introducing the project name and each team member. State that Manik will present the frontend-only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student problem before discussing technology. Use the screenshot only as evidence of the learning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Define the four-part value of the project and connect it to the upcoming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Give a short tour of the project capabilities. This is the bridge between problem and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Walk left to right. Explain that the backend acts as the controlled middle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everyday language: API endpoints are backend doors that accept a request and return a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retrieval augmented generation without jargon: first find the relevant notes, then formulate the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Manik can explain frontend as the visible layer that turns backend data into usable interactions.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Point to the two real product screens. Describe hierarchy: orient first, then let the student 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Clarify that this is 3D-styled visual treatment in the interface, built for a friendly, interactive feeling.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Emphasise reliability. The fallback lets students keep practising instead of only seeing an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Describe validation honestly: automated backend checks, build verification and browser-visible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End the technical story by showing that the roadmap extends the current product rather than changing its core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StudyForge repository implementation and local product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Invite the faculty to see the login, selected material, study chat and generated quiz. Share the presentation naturally between all members.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914675d594d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35af3e566498d" /><Relationship Type="http://schemas.openxmlformats.org/officeDocument/2006/relationships/slideLayout" Target="/ppt/slideLayouts/slideLayout1.xml" Id="R6266fa5a0c1e42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66fa5a0c1e42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ee356189b456d" /><Relationship Type="http://schemas.openxmlformats.org/officeDocument/2006/relationships/image" Target="/ppt/media/image.png" Id="Rbec0df5f0d74453f" /><Relationship Type="http://schemas.openxmlformats.org/officeDocument/2006/relationships/notesSlide" Target="/ppt/notesSlides/notesSlide1.xml" Id="R0ba639ac182344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4b4633cbb4b69" /><Relationship Type="http://schemas.openxmlformats.org/officeDocument/2006/relationships/image" Target="/ppt/media/image2.png" Id="R061ca7a93ab64a66" /><Relationship Type="http://schemas.openxmlformats.org/officeDocument/2006/relationships/notesSlide" Target="/ppt/notesSlides/notesSlide2.xml" Id="Re57ebd71b4d14e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5c5774a954b65" /><Relationship Type="http://schemas.openxmlformats.org/officeDocument/2006/relationships/notesSlide" Target="/ppt/notesSlides/notesSlide3.xml" Id="R53e8094b595e49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2ead31d974caf" /><Relationship Type="http://schemas.openxmlformats.org/officeDocument/2006/relationships/image" Target="/ppt/media/image3.png" Id="R6a5894bd4a3d4801" /><Relationship Type="http://schemas.openxmlformats.org/officeDocument/2006/relationships/notesSlide" Target="/ppt/notesSlides/notesSlide4.xml" Id="R0a2ac2b0fdca4f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58136d4fe4d3b" /><Relationship Type="http://schemas.openxmlformats.org/officeDocument/2006/relationships/notesSlide" Target="/ppt/notesSlides/notesSlide5.xml" Id="Rf35611346e8e4a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38f115fb34ff8" /><Relationship Type="http://schemas.openxmlformats.org/officeDocument/2006/relationships/image" Target="/ppt/media/image4.png" Id="R38f6870dae194226" /><Relationship Type="http://schemas.openxmlformats.org/officeDocument/2006/relationships/notesSlide" Target="/ppt/notesSlides/notesSlide6.xml" Id="Rafc8fae2dcea40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5befa42cb4011" /><Relationship Type="http://schemas.openxmlformats.org/officeDocument/2006/relationships/notesSlide" Target="/ppt/notesSlides/notesSlide7.xml" Id="Rd60281062b764c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cd6039f6c449a" /><Relationship Type="http://schemas.openxmlformats.org/officeDocument/2006/relationships/image" Target="/ppt/media/image5.png" Id="R5d9ade28b4a24051" /><Relationship Type="http://schemas.openxmlformats.org/officeDocument/2006/relationships/notesSlide" Target="/ppt/notesSlides/notesSlide8.xml" Id="R2b3b5964807b47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d88427cb34198" /><Relationship Type="http://schemas.openxmlformats.org/officeDocument/2006/relationships/image" Target="/ppt/media/image6.png" Id="R6a50918ed9f74abd" /><Relationship Type="http://schemas.openxmlformats.org/officeDocument/2006/relationships/image" Target="/ppt/media/image7.png" Id="R959526d2dcd5417e" /><Relationship Type="http://schemas.openxmlformats.org/officeDocument/2006/relationships/notesSlide" Target="/ppt/notesSlides/notesSlide9.xml" Id="Rdcd0bb0d2b4245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15888b6f8473b" /><Relationship Type="http://schemas.openxmlformats.org/officeDocument/2006/relationships/image" Target="/ppt/media/image8.png" Id="R34b8370baa094212" /><Relationship Type="http://schemas.openxmlformats.org/officeDocument/2006/relationships/notesSlide" Target="/ppt/notesSlides/notesSlide10.xml" Id="R1777c33c4ac546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d25340e194dbd" /><Relationship Type="http://schemas.openxmlformats.org/officeDocument/2006/relationships/image" Target="/ppt/media/image9.png" Id="Ra837b81f3f6c46dc" /><Relationship Type="http://schemas.openxmlformats.org/officeDocument/2006/relationships/notesSlide" Target="/ppt/notesSlides/notesSlide11.xml" Id="Rdfc55189ea8b4d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b22f3af16423a" /><Relationship Type="http://schemas.openxmlformats.org/officeDocument/2006/relationships/notesSlide" Target="/ppt/notesSlides/notesSlide12.xml" Id="R2b546aedfaaa42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d88a55a17485e" /><Relationship Type="http://schemas.openxmlformats.org/officeDocument/2006/relationships/image" Target="/ppt/media/image10.png" Id="R182da16e50a44f8a" /><Relationship Type="http://schemas.openxmlformats.org/officeDocument/2006/relationships/notesSlide" Target="/ppt/notesSlides/notesSlide13.xml" Id="R1eed3f122b764d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fc6695ac24178" /><Relationship Type="http://schemas.openxmlformats.org/officeDocument/2006/relationships/notesSlide" Target="/ppt/notesSlides/notesSlide14.xml" Id="R3ebdab6baf924b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531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39AF4-835B-4BF0-A48E-2CA1BF3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-13525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7286D-0C0E-4A33-8D53-D5ADBB7C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619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520C6-3F96-43AA-B0FB-DF02EF9E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2266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9525">
            <a:solidFill>
              <a:srgbClr val="FFFFFF">
                <a:alpha val="2500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7E3ED-EA3B-4864-9176-25F4FC8F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MID-TERM PROJECT DISPLAY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3CC99-162D-4A92-8BC4-57A5661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647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StudyForge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BDB03-9A3D-4E09-B796-01E81AC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E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EFFF"/>
                </a:solidFill>
                <a:latin typeface="Arial"/>
                <a:ea typeface="Arial"/>
                <a:cs typeface="Arial"/>
              </a:rPr>
              <a:t>A focused study companion that turns learning material into organised practice.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0df5f0d74453f"/>
          <a:srcRect xmlns:a="http://schemas.openxmlformats.org/drawingml/2006/main" l="0" t="10338" r="0" b="10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1952625"/>
            <a:ext cx="4362450" cy="2876550"/>
          </a:xfrm>
          <a:prstGeom xmlns:a="http://schemas.openxmlformats.org/drawingml/2006/main" prst="roundRect">
            <a:avLst>
              <a:gd name="adj" fmla="val 529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1D0BD-15FA-4113-AA75-BDB8E70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4362450" cy="2876550"/>
          </a:xfrm>
          <a:prstGeom xmlns:a="http://schemas.openxmlformats.org/drawingml/2006/main" prst="roundRect">
            <a:avLst>
              <a:gd name="adj" fmla="val 52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BB2E2-7FF9-443B-A600-109A458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738DF-5C51-4C88-93C7-568081D5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8DD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8DDF4"/>
                </a:solidFill>
                <a:latin typeface="Arial"/>
                <a:ea typeface="Arial"/>
                <a:cs typeface="Arial"/>
              </a:rPr>
              <a:t>B.Tech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729029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43881-3C93-48BB-91C0-38CFD0A9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E1CBD-AA5F-4079-B6BF-DDB2C2DF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17224-30F7-4DAD-93F4-BDE639CA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A3BBF-3022-4AB6-8C3F-E4D25124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02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0345A-E134-4190-B524-5AE6211E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92DCD-8A94-408E-876B-5993C962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Students need one calm place to learn, practice and 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E9565-4889-4299-9BDA-3D8D78F8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 material is commonly scattered across PDFs, notes, search tabs and separate quiz tools.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ca7a93ab64a66"/>
          <a:srcRect xmlns:a="http://schemas.openxmlformats.org/drawingml/2006/main" l="0" t="5020" r="0" b="5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914400"/>
            <a:ext cx="4191000" cy="42100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14097-8544-46E9-8821-B2DA127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4191000" cy="421005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B9BEB-25A8-4AA3-B3B0-807EDEA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5EEC5-7386-46CF-BC58-1AF9B98B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Revision becomes slower when key points are hidden inside long notes.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A3D89-5936-4E66-A744-0D2F6402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6B844-DA2F-4872-86A6-0F41B486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Generic practice questions repeat ideas and do not reflect the uploaded material.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BAE45-4700-43B6-999B-6980332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A2DEE-943E-4BA1-9F06-9B20500C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60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Students also need a simple way to track tasks, chat about a topic and return to their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98248-D0B6-43CA-989A-3D3E3E38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705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B.TECH STUDENTS</a:t>
            </a:r>
          </a:p>
        </p:txBody>
      </p:sp>
    </p:spTree>
    <p:extLst>
      <p:ext uri="{BB962C8B-B14F-4D97-AF65-F5344CB8AC3E}">
        <p14:creationId xmlns:p14="http://schemas.microsoft.com/office/powerpoint/2010/main" val="1052168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7071E-9957-46EA-9DAE-3150E8BF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EB4E0-2F2A-4B69-960E-DC245133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98535-0491-4961-ADFA-28D7DF6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944BA-27A5-483F-ACD9-9FD1C855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03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83AB9-067E-48F7-A71C-9F31CD3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2405-058F-4375-A8E7-01AF0F60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Make study actions feel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D9EF3-49F5-449A-AAE5-5E151414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brings material, AI assistance and personal organisation into one web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CB4C3-2EB2-453F-A011-C34215F4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EFA0D-FDE4-4FD8-BDA9-18CC8673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1F1C9-36F9-4C7E-A04B-6EAE77DC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E4B1C-8B7B-4856-B21C-F148A410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Upload PDFs and keep study material available in a personal workspace.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64650-12A1-4D07-9210-D5F5877B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5AD04-BA81-42DE-B278-1EDB284F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DDB2D-0916-4891-A654-45E982F4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12D89-5821-4149-8174-AEB1BE72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Ask questions grounded in the selected study material.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39A26-C2EA-4530-A039-C6CD297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223837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E2260-67EE-4C97-8FDE-16153C56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4DD77-74B2-415C-8029-BDD8018B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241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C5485-46DF-4490-9945-67F454AB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289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Generate flashcards and quizzes with broader, less repetitive coverage.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C685D-E40A-468A-BC24-6CC936B4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4DA9F-9D08-4E06-BCD6-DB3CAFCA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A3461-1B46-41FA-8CFC-FABF8E61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83E8C-CDD0-4D02-A8A4-1B5A743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Use a dashboard, planner, streaks and profile preferences to stay consistent.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684263-7AAE-44AC-B059-399D2609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product goal is not just AI answers. It is a repeatable study workflow.</a:t>
            </a:r>
          </a:p>
        </p:txBody>
      </p:sp>
    </p:spTree>
    <p:extLst>
      <p:ext uri="{BB962C8B-B14F-4D97-AF65-F5344CB8AC3E}">
        <p14:creationId xmlns:p14="http://schemas.microsoft.com/office/powerpoint/2010/main" val="11524668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26591-648F-4CD2-B0A7-B13C02A9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14A74-4BDA-4252-A392-321C643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0466F-FD7E-4DE5-B976-F811B0EC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92533-6FFC-467F-A576-EACF48B5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04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BDF89-5FAB-406E-8564-C0A6BF36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STUDENTS CAN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1F669-A96F-449B-BB38-4E0B6F7A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One application, several focused study actions.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894bd4a3d4801"/>
          <a:srcRect xmlns:a="http://schemas.openxmlformats.org/drawingml/2006/main" l="15278" t="0" r="15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02870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57589-CEF4-4184-8CB2-EE1A4E7B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2870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062E7-BDA6-4DB9-BBBC-87950A82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Material library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F69AC-2C4C-4162-84AC-C21837FC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Store uploaded PDFs and choose the active study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DC0F4-6B36-4CFB-99C0-B9231D4D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C64A5-0577-416D-A5A1-D334620A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Study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0724A-C7FE-41A9-B89C-1E382CB2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9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Ask a topic-specific question and receive a grounded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3D5AD-5A40-413A-A27B-3C9D0C1B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9F43F-EDAE-41ED-A5D1-C9EB0CE8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Flashcards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B5B1F-5DBF-42EA-A946-750B1E8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Create short review prompts for recall practice.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360F2-E090-46C3-8166-2E1E218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DDFFC-35F1-49E4-8AE7-FA835719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Quizzes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2456B-3FCF-4EC1-A1DE-935F6B89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Attempt varied MCQs and receive immediate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E6AEC-BFA8-497E-A494-18D4501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8EA28-8D7A-447E-9705-18DDCED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91E18-27A9-4BE3-8613-8242E8C5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Organise tasks and deadlines around a study routine.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55334-6D80-471E-B5EE-E149FE3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1837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D24B5-1D9A-4F2E-9806-94D837A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23775-1A2A-4BFE-AF53-077DB69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0FF73-28F2-4C92-BCEE-0678215A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630AF-A9D8-4646-AD30-5773584B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05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FE24E-227F-4DAB-83C1-1E506CE6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4F17F-0BC9-465E-9B55-C4B4FCB9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 React frontend communicates with a FastAPI backend and local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F1AE7-47AE-4465-B744-10D357D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B8E46-8A12-4C7D-880A-70ADF2C5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Student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8F0CF-0EA9-465D-86A3-BE728CA0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React and Next.js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4D6E1-0E2D-4D5D-BF50-72A2CC52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7F200-1101-4F0B-8701-5086B1D7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FastAPI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EF823-C037-4382-AD06-8F165068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API routes and business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04E20-814B-4AC6-9530-821F0711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20764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377BE-CB09-4946-A030-EE97EC83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76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SQLite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94797-A25D-4166-A8E7-AB311AA7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Accounts, preferences and tasks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C5A65-6711-4EE5-9B74-82C9814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FB1D7-6819-47D6-B51F-40009A38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765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Study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BDB2F-5F92-4DAD-A376-060F53D4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PDF text, chunks and AI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65CC9-F271-43FE-B1A8-D65554BD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D87B2-8E9A-429D-8653-05BEE1BA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02DA7-59F8-42DD-8904-95AB0A3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24175"/>
            <a:ext cx="381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33AD7-B35A-4095-9C28-C220B119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The browser never directly handles database queries or provider calls. The backend manages these steps.</a:t>
            </a:r>
          </a:p>
        </p:txBody>
      </p:sp>
    </p:spTree>
    <p:extLst>
      <p:ext uri="{BB962C8B-B14F-4D97-AF65-F5344CB8AC3E}">
        <p14:creationId xmlns:p14="http://schemas.microsoft.com/office/powerpoint/2010/main" val="1045409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9D53B-7516-48A1-A117-58AA3D73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75D84-8FD1-4137-B623-934F4209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7CA80-2305-4587-BB39-D74A163E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63CC1-E301-45D3-86CC-4D00EA89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06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A036D-7CFD-4918-939A-EDFD833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BACKEND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9A29A-FA0A-4B73-A654-3F9E8C09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 request travels through clear API steps before the student sees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96728-62EF-4F52-A41A-A610BA44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FEFCA-D842-451A-9365-BD4E18B0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286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Create account, sign in and protect user-specific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CD30B-40A2-4DA1-8298-1B662162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09CC5-AF7C-4355-80BB-16C69EDA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Material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F21B6-FD63-44C5-B3E7-FB90AC9E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52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Read PDF text, split it into searchable chunks and save useful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AAE96-A504-42D9-A05B-1A8BF0AF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860D4-BACA-487B-9C1F-E0A4DE5C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Study 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22C6E-BCAA-48ED-BE3C-38787321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19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Receive questions, flashcard requests and quiz requests from the frontend.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A432B-02E8-4F84-917A-D2ACABA5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88442-FBFB-4323-81AC-BBF5AE2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BEA02-E47D-4C42-A9C5-2BBB550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86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Store profiles, tasks, files and selected study context in SQLite.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FEBEB-384F-431D-87BC-A55A49D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868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6870dae194226"/>
          <a:srcRect xmlns:a="http://schemas.openxmlformats.org/drawingml/2006/main" l="21560" t="0" r="215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733550"/>
            <a:ext cx="1885950" cy="2857500"/>
          </a:xfrm>
          <a:prstGeom xmlns:a="http://schemas.openxmlformats.org/drawingml/2006/main" prst="roundRect">
            <a:avLst>
              <a:gd name="adj" fmla="val 808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E04B6-EBE5-4735-B881-1A617930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33550"/>
            <a:ext cx="1885950" cy="2857500"/>
          </a:xfrm>
          <a:prstGeom xmlns:a="http://schemas.openxmlformats.org/drawingml/2006/main" prst="roundRect">
            <a:avLst>
              <a:gd name="adj" fmla="val 808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6516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C2AFF-0C65-42A3-8EB2-4B5FB89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3CEAE-0E78-4BD6-87F6-978CBB6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89335-866B-4C7D-BF2C-7DDE24C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D7037-59F7-4F86-B944-BC3759BE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07  ·  Suggested speaker: Akshita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3F16B-63A2-4238-A670-D3902A29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GROUNDED AI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3B268-B5D3-4846-8AAD-CD7F2BEE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selected PDF supplies context for answers and practice material.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6D6B8-9E06-4458-90EE-E934A7B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6BE74-C5A5-42D0-954D-A3169EB8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31AFD-21E6-4EA8-A473-CBA5D96D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Upload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7D45D-1B46-446E-8D5E-D47DA87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PyMuPDF extracts text from the student’s document.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24382-6A4D-4787-8C0B-860E4853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5E7C5-BDC8-4A10-9CD7-EE29EBA1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80DAD-4CAD-453E-BDD6-AB8F10EB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Chunk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B5EDA-7EDA-428B-A252-FA3635CA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backend divides text into smaller searchable pieces.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A109C-3DE4-424F-B9DB-64F41D47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A7F47-A889-4E74-A826-826CF11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E794C-0ED4-4504-AACF-609E8A6C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Find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5E0EB-7E93-4DE2-862D-01396B8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TF-IDF retrieval selects relevant chunks for a question.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42742-A194-4F8D-B9A7-E1F5C819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DBBAC-9F69-47D7-9CBE-36AB040A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2DD86-6721-427D-AFC3-7B4B275D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41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Generate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CC310-259F-4272-9946-C0F34413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Gemini is used when available, with local handling for reliability.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1479A-713D-4D25-9CCD-6DE7ACDB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Why this matters: the system can answer using material the student selected, instead of only a generic prompt.</a:t>
            </a:r>
          </a:p>
        </p:txBody>
      </p:sp>
    </p:spTree>
    <p:extLst>
      <p:ext uri="{BB962C8B-B14F-4D97-AF65-F5344CB8AC3E}">
        <p14:creationId xmlns:p14="http://schemas.microsoft.com/office/powerpoint/2010/main" val="2043145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43BAA-5698-4430-AD4B-7FFC0D70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E1E9E-C3F4-4D4F-ACE9-AB4FD506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448E7-00CE-4A0A-B98B-FE354CF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ED9D0-AF60-4EC5-B8EB-E63A774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08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9DFDA-76E2-4E9F-8207-D5DC675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FRONTEND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37B70-2FC3-4CE5-86AC-E1774EE0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interface is built as reusable React and Next.js components.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C716C-CBA3-428E-9F77-A5CEA37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Frontend section presented by Manik Jasrotia.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ade28b4a24051"/>
          <a:srcRect xmlns:a="http://schemas.openxmlformats.org/drawingml/2006/main" l="12855" t="0" r="12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99060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B652A-B588-4D15-92BD-7F8F46E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99060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43F16-3859-480A-8029-5400118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App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98C8B-BE69-4C4E-88A8-C1C76FB9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Dashboard, library, chat, quizzes, planner and profile pages.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AC79F-AD47-47C9-806D-2189D69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Reusable 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8F045-F1D4-453F-BFC2-5E81C049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Navigation, cards, controls and modal patterns are shared across screens.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50182-FD33-4EE9-8F24-C0ED2B74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State and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81A16-614B-41FC-A54B-76EED055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frontend calls backend routes and refreshes visible study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8E4C9-45C6-49F1-A6EF-D776F530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Responsive styling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5DBAE-70D1-458B-90BB-7FF45DD3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557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Layouts adapt to common desktop and mobile widths.</a:t>
            </a:r>
          </a:p>
        </p:txBody>
      </p:sp>
    </p:spTree>
    <p:extLst>
      <p:ext uri="{BB962C8B-B14F-4D97-AF65-F5344CB8AC3E}">
        <p14:creationId xmlns:p14="http://schemas.microsoft.com/office/powerpoint/2010/main" val="1353679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9801C-3FA7-42B8-85CD-63742209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1CB6D-19E7-4B94-9432-C4981C49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E7D69-46E0-4717-BF95-16DB80BB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4732D-A0DE-451D-8ABF-0483E32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09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B4507-B9BE-423E-88B3-F64E445E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DESIGNED FOR A HUMAN STUDY ROUTINE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315D3-3660-4964-9443-439EADAA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Warm surfaces, clear hierarchy and fewer distractions support regular use.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0918ed9f74abd"/>
          <a:srcRect xmlns:a="http://schemas.openxmlformats.org/drawingml/2006/main" l="0" t="11413" r="0" b="11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8D34D-A6D7-46A4-AE47-49F4C16A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526d2dcd5417e"/>
          <a:srcRect xmlns:a="http://schemas.openxmlformats.org/drawingml/2006/main" l="0" t="19391" r="0" b="19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BAA66-5E48-4A32-9B13-F3468944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5048250" cy="3238500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ACEBE-D253-4BD1-A43B-98E015BF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EBA3B-62C7-4B4C-944D-49D483BB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2038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CONTEXTUAL STUDY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80283-E964-4A42-83E3-B6FFAA39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interface puts the next study action in view instead of making students search through technical menus.</a:t>
            </a:r>
          </a:p>
        </p:txBody>
      </p:sp>
    </p:spTree>
    <p:extLst>
      <p:ext uri="{BB962C8B-B14F-4D97-AF65-F5344CB8AC3E}">
        <p14:creationId xmlns:p14="http://schemas.microsoft.com/office/powerpoint/2010/main" val="1009556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F750B-46D6-4F90-86EC-CC96CE48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9AD03-0539-477B-91B8-120A3693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0FA4B-A5EE-4B01-BB8E-E151C0A0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18147-C58A-489F-BA82-AC7F085F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10  ·  Suggested speaker: Manik Jasrotia —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87C13-5586-4A21-A4C8-79CF3259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PROFILE, THEME AND AVATAR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39A9A-514F-4C8E-B725-6FA38982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Personalisation makes the product feel owned by the student.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370baa094212"/>
          <a:srcRect xmlns:a="http://schemas.openxmlformats.org/drawingml/2006/main" l="0" t="7924" r="0" b="7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895350"/>
            <a:ext cx="3657600" cy="413385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CD569-EE57-46AB-9A81-E22ECA3C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3657600" cy="4133850"/>
          </a:xfrm>
          <a:prstGeom xmlns:a="http://schemas.openxmlformats.org/drawingml/2006/main" prst="roundRect">
            <a:avLst>
              <a:gd name="adj" fmla="val 41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C4A57-A847-48CA-821D-C5290627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18E84-AD97-4D36-87C4-15E2672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A profile setup flow stores preferences through the backend profile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8A534-5C8A-4E25-8904-00AE7218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1C8CA-C8B1-4809-9D03-1BE92CA0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Gender-aware options and custom choices are presented in a 3D-styled visual avatar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86CE1-0092-49AA-BA24-11EDEE00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8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D80D3-E5CA-4808-BCE3-2069113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5743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Theme controls support light and dark study environments while maintaining readable content.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20F7D-DA16-4D1C-BEDA-C9D1E77E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2952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FRONTEND-ONLY PRESENTATION SECTION</a:t>
            </a:r>
          </a:p>
        </p:txBody>
      </p:sp>
    </p:spTree>
    <p:extLst>
      <p:ext uri="{BB962C8B-B14F-4D97-AF65-F5344CB8AC3E}">
        <p14:creationId xmlns:p14="http://schemas.microsoft.com/office/powerpoint/2010/main" val="13207683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8A568-6663-4A39-BABF-0494FDFF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0C1DD-48D7-4472-B041-7721884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2D3F7-4A48-4D65-866F-C8A36E87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4D123-F084-483F-B9FA-6C1CD902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11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3C1D4-FD14-4FA7-9A3D-13A0BE32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PRACTICE THAT STAYS USEFUL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1B24F-1B8F-4967-AAED-4FEE3EE2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Flashcards and quizzes are designed to cover different ideas from the same material.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7b81f3f6c46dc"/>
          <a:srcRect xmlns:a="http://schemas.openxmlformats.org/drawingml/2006/main" l="13578" t="0" r="135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8125" y="990600"/>
            <a:ext cx="3381375" cy="4000500"/>
          </a:xfrm>
          <a:prstGeom xmlns:a="http://schemas.openxmlformats.org/drawingml/2006/main" prst="roundRect">
            <a:avLst>
              <a:gd name="adj" fmla="val 450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4D17D-309B-4504-A74C-58D9E1E5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90600"/>
            <a:ext cx="3381375" cy="4000500"/>
          </a:xfrm>
          <a:prstGeom xmlns:a="http://schemas.openxmlformats.org/drawingml/2006/main" prst="roundRect">
            <a:avLst>
              <a:gd name="adj" fmla="val 45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0BD03-FE40-41FD-AB7C-ECF72475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94800-6561-4365-B193-29D1FF57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7EC20-1EF8-4CE7-B3D1-7F49D771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Broader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1F450-6509-4517-BD48-06DDF48E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AI prompt asks for coverage across distinct concepts.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2802C-6B33-41FF-AEEE-6E4E9AD1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43175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B8393-20CB-495A-88A1-91FDCC2F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955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C40F7-F3D3-4A60-AF51-C6DEFA84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Similarity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51025-E014-4C38-8E20-1114B87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Question text is compared to filter near-duplicates.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549B5-2B7A-499C-8810-6B023ADE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2114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9703A-6390-4211-8570-C2BF9FE7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955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5DC3E-61C1-44EA-97E1-1682478E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908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Topic labels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3127F-E797-456B-8DA2-1154642F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95650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A focus label tells the learner what each card or question is testing.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766C4-22CA-4E55-90AC-9302DD28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If the external AI provider is temporarily busy, the backend creates a local source-grounded quiz from saved material chunks.</a:t>
            </a:r>
          </a:p>
        </p:txBody>
      </p:sp>
    </p:spTree>
    <p:extLst>
      <p:ext uri="{BB962C8B-B14F-4D97-AF65-F5344CB8AC3E}">
        <p14:creationId xmlns:p14="http://schemas.microsoft.com/office/powerpoint/2010/main" val="3785386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011C4-44C6-456A-BFF5-21202529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A789F-B091-4301-AFC8-7AC6B233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A61D4-A270-4572-8352-CEC6E461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5B2A4-CE50-4C49-88A9-657B55E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12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E8BE8-0DF7-41EC-9063-8610FFA5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VALIDATION AND CURRENT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ADBF7-BBCE-44AA-A8C6-153C231E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project was checked from backend behaviour through to the visible frontend build.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21184-1596-4151-B089-33FBFD7C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CDE8D7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A350F-3F3D-4E27-BD46-E64798D5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F8CEE-9542-446E-90F4-BAA8DE39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Backend reliability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77388-F62A-46EC-B932-E74A1C0C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Targeted tests covered AI failure handling and workspace behaviour.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F5E79-0F17-4645-8370-D56495AD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E1FF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DD90B-3ADF-4221-8AFF-CD8E5203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CBA02-9D69-46CD-8EB2-7E92461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Local quiz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A56BD-67C5-4166-BC43-69F6E567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Direct testing generated varied questions from stored study chunks.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92F35-5565-4DA4-BA15-A141B07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CE5D6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84C39-A857-4EE4-A77A-674526F2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C8025-FD87-4DF8-B50F-5C70F9EC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E34E7-4F3F-4AF8-AD93-0A2829A8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The Next.js frontend completed a production build successfully.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50E9C-BD08-465C-947C-EB006D3B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33625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2725F-9439-4AAD-A983-9382CE93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518F8-70B6-48C0-AFFC-3C40B1AF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Browser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E2566-4E09-4748-A88B-FD61EFFC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909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Pages and study actions were checked through the running local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2094478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AE64C-F51A-4669-A8EF-647E1506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1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65308-C602-4C62-B1A6-BFB0F9DE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1E396-D12F-4153-AAFA-CD738036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55E70"/>
                </a:solidFill>
                <a:latin typeface="Arial"/>
                <a:ea typeface="Arial"/>
                <a:cs typeface="Arial"/>
              </a:rPr>
              <a:t>STUDYFORGE AI   /   MID-TERM DISPLAY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2E92A-A645-4FAB-B108-81422896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5E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5E70"/>
                </a:solidFill>
                <a:latin typeface="Arial"/>
                <a:ea typeface="Arial"/>
                <a:cs typeface="Arial"/>
              </a:rPr>
              <a:t>13  ·  Suggested speaker: Aasveer Singh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5FCB7-B4A2-407D-B6B1-23BBBD7A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F5FDD-5E85-4671-AA43-203C1098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1C35"/>
                </a:solidFill>
                <a:latin typeface="Arial"/>
                <a:ea typeface="Arial"/>
                <a:cs typeface="Arial"/>
              </a:rPr>
              <a:t>The project has a solid student workflow and clear paths for future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3B05A-5A7C-49E1-A4F4-667B20DF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Smarter content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520E7-D4DC-4A58-9741-F533B350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Allow students to rate cards and quizzes to improve future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531F8-EDDF-402C-B438-6F99BBB0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5E0C2-06FA-4FD0-BCE7-9D1AAF3B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02388-212A-4DB4-B8BF-7E53655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Show weak topics, time spent and revision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41303-17FE-4858-9FE4-F0B2290B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1C46D-671B-4886-A4FE-7063CF4E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531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315F"/>
                </a:solidFill>
                <a:latin typeface="Arial"/>
                <a:ea typeface="Arial"/>
                <a:cs typeface="Arial"/>
              </a:rPr>
              <a:t>More formats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88F47-52CD-4B73-9801-B991B2D9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1C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51C35"/>
                </a:solidFill>
                <a:latin typeface="Arial"/>
                <a:ea typeface="Arial"/>
                <a:cs typeface="Arial"/>
              </a:rPr>
              <a:t>Support notes, images and additional subject-specific templates.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A204F-DB15-4D75-B616-43A225BC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E7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da16e50a44f8a"/>
          <a:srcRect xmlns:a="http://schemas.openxmlformats.org/drawingml/2006/main" l="0" t="1538" r="0" b="1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52625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ACCB4-51AB-4F56-9058-8816BF74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5315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19354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5531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B4A36-38B0-445B-91C8-061C97CB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62100" y="36957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14D73-91BA-4A33-ACD6-C0AC02E5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2095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A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E339B-FFD0-43CF-9037-9C0D76C9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1AFA8-A931-47E8-BAF5-4C35EA6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881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ED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DFF"/>
                </a:solidFill>
                <a:latin typeface="Arial"/>
                <a:ea typeface="Arial"/>
                <a:cs typeface="Arial"/>
              </a:rPr>
              <a:t>1. Sign in  →  2. Select study material  →  3. Ask a question  →  4. Generate a 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CF9FE-30A2-4303-B6CA-B7017013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874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B5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71DD7-D325-432F-BA20-E56E1D31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20805-D9A1-4E5E-AA72-5ED7892D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ED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ED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2E3CE-3EB2-4F6F-A40F-BA27782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Akshita  ·  Aasveer Singh  ·  Manik Jasrotia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6AF74-B1D7-43D5-8768-D3475B35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8DD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DDF4"/>
                </a:solidFill>
                <a:latin typeface="Arial"/>
                <a:ea typeface="Arial"/>
                <a:cs typeface="Arial"/>
              </a:rPr>
              <a:t>StudyForge AI — a calmer study workspace for B.Tech students</a:t>
            </a:r>
          </a:p>
        </p:txBody>
      </p:sp>
    </p:spTree>
    <p:extLst>
      <p:ext uri="{BB962C8B-B14F-4D97-AF65-F5344CB8AC3E}">
        <p14:creationId xmlns:p14="http://schemas.microsoft.com/office/powerpoint/2010/main" val="1316658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2026-10-05T13:59:04.4450000Z</dcterms:created>
  <dcterms:modified xsi:type="dcterms:W3CDTF">2026-10-05T13:59:04.4450000Z</dcterms:modified>
</coreProperties>
</file>