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31e0aba7f4a26" /><Relationship Type="http://schemas.openxmlformats.org/officeDocument/2006/relationships/extended-properties" Target="/docProps/app.xml" Id="Rf10b158d90444999" /><Relationship Type="http://schemas.openxmlformats.org/officeDocument/2006/relationships/officeDocument" Target="/ppt/presentation.xml" Id="R4ebc0257a96b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8195fe78b547e6"/>
  </p:sldMasterIdLst>
  <p:notesMasterIdLst>
    <p:notesMasterId xmlns:r="http://schemas.openxmlformats.org/officeDocument/2006/relationships" r:id="R4d8c9d4ca0cf420f"/>
  </p:notesMasterIdLst>
  <p:sldIdLst>
    <p:sldId xmlns:r="http://schemas.openxmlformats.org/officeDocument/2006/relationships" id="256" r:id="R0bc91679f1784e8a"/>
    <p:sldId xmlns:r="http://schemas.openxmlformats.org/officeDocument/2006/relationships" id="257" r:id="Ra39b99d8bcf54dbe"/>
    <p:sldId xmlns:r="http://schemas.openxmlformats.org/officeDocument/2006/relationships" id="258" r:id="R6d54e3ec6e924bfb"/>
    <p:sldId xmlns:r="http://schemas.openxmlformats.org/officeDocument/2006/relationships" id="259" r:id="R80442ee99be94984"/>
    <p:sldId xmlns:r="http://schemas.openxmlformats.org/officeDocument/2006/relationships" id="260" r:id="Rf31a3cd447fe4ccd"/>
    <p:sldId xmlns:r="http://schemas.openxmlformats.org/officeDocument/2006/relationships" id="261" r:id="Red17069521474cdf"/>
    <p:sldId xmlns:r="http://schemas.openxmlformats.org/officeDocument/2006/relationships" id="262" r:id="Ra779c04d3a764cdc"/>
    <p:sldId xmlns:r="http://schemas.openxmlformats.org/officeDocument/2006/relationships" id="263" r:id="R80660bf30a484a21"/>
    <p:sldId xmlns:r="http://schemas.openxmlformats.org/officeDocument/2006/relationships" id="264" r:id="Rc5d2f19069744f05"/>
    <p:sldId xmlns:r="http://schemas.openxmlformats.org/officeDocument/2006/relationships" id="265" r:id="Rddd59506066b4841"/>
    <p:sldId xmlns:r="http://schemas.openxmlformats.org/officeDocument/2006/relationships" id="266" r:id="Rd3e87c1dc06f4b80"/>
    <p:sldId xmlns:r="http://schemas.openxmlformats.org/officeDocument/2006/relationships" id="267" r:id="Rbb31160718064f66"/>
    <p:sldId xmlns:r="http://schemas.openxmlformats.org/officeDocument/2006/relationships" id="268" r:id="R1cc575a0ed3c4d4c"/>
    <p:sldId xmlns:r="http://schemas.openxmlformats.org/officeDocument/2006/relationships" id="269" r:id="R86ce843bcaf842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275abd713a496d" /><Relationship Type="http://schemas.openxmlformats.org/officeDocument/2006/relationships/slideMaster" Target="/ppt/slideMasters/slideMaster1.xml" Id="R278195fe78b547e6" /><Relationship Type="http://schemas.openxmlformats.org/officeDocument/2006/relationships/notesMaster" Target="/ppt/notesMasters/notesMaster1.xml" Id="R4d8c9d4ca0cf420f" /><Relationship Type="http://schemas.openxmlformats.org/officeDocument/2006/relationships/presProps" Target="/ppt/presProps.xml" Id="R1fb9ec7c74c04f2b" /><Relationship Type="http://schemas.openxmlformats.org/officeDocument/2006/relationships/tableStyles" Target="/ppt/tableStyles.xml" Id="R2fe8595bd6574777" /><Relationship Type="http://schemas.openxmlformats.org/officeDocument/2006/relationships/slide" Target="/ppt/slides/slide1.xml" Id="R0bc91679f1784e8a" /><Relationship Type="http://schemas.openxmlformats.org/officeDocument/2006/relationships/slide" Target="/ppt/slides/slide2.xml" Id="Ra39b99d8bcf54dbe" /><Relationship Type="http://schemas.openxmlformats.org/officeDocument/2006/relationships/slide" Target="/ppt/slides/slide3.xml" Id="R6d54e3ec6e924bfb" /><Relationship Type="http://schemas.openxmlformats.org/officeDocument/2006/relationships/slide" Target="/ppt/slides/slide4.xml" Id="R80442ee99be94984" /><Relationship Type="http://schemas.openxmlformats.org/officeDocument/2006/relationships/slide" Target="/ppt/slides/slide5.xml" Id="Rf31a3cd447fe4ccd" /><Relationship Type="http://schemas.openxmlformats.org/officeDocument/2006/relationships/slide" Target="/ppt/slides/slide6.xml" Id="Red17069521474cdf" /><Relationship Type="http://schemas.openxmlformats.org/officeDocument/2006/relationships/slide" Target="/ppt/slides/slide7.xml" Id="Ra779c04d3a764cdc" /><Relationship Type="http://schemas.openxmlformats.org/officeDocument/2006/relationships/slide" Target="/ppt/slides/slide8.xml" Id="R80660bf30a484a21" /><Relationship Type="http://schemas.openxmlformats.org/officeDocument/2006/relationships/slide" Target="/ppt/slides/slide9.xml" Id="Rc5d2f19069744f05" /><Relationship Type="http://schemas.openxmlformats.org/officeDocument/2006/relationships/slide" Target="/ppt/slides/slide10.xml" Id="Rddd59506066b4841" /><Relationship Type="http://schemas.openxmlformats.org/officeDocument/2006/relationships/slide" Target="/ppt/slides/slide11.xml" Id="Rd3e87c1dc06f4b80" /><Relationship Type="http://schemas.openxmlformats.org/officeDocument/2006/relationships/slide" Target="/ppt/slides/slide12.xml" Id="Rbb31160718064f66" /><Relationship Type="http://schemas.openxmlformats.org/officeDocument/2006/relationships/slide" Target="/ppt/slides/slide13.xml" Id="R1cc575a0ed3c4d4c" /><Relationship Type="http://schemas.openxmlformats.org/officeDocument/2006/relationships/slide" Target="/ppt/slides/slide14.xml" Id="R86ce843bcaf8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f83f29d36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dd325e683640ae" /><Relationship Type="http://schemas.openxmlformats.org/officeDocument/2006/relationships/notesMaster" Target="/ppt/notesMasters/notesMaster1.xml" Id="Rafd52e66216c4e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f103554c1c466a" /><Relationship Type="http://schemas.openxmlformats.org/officeDocument/2006/relationships/notesMaster" Target="/ppt/notesMasters/notesMaster1.xml" Id="R75a5042df2384f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f15e90943048ef" /><Relationship Type="http://schemas.openxmlformats.org/officeDocument/2006/relationships/notesMaster" Target="/ppt/notesMasters/notesMaster1.xml" Id="R4470fe7274304e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7d7e230b3945de" /><Relationship Type="http://schemas.openxmlformats.org/officeDocument/2006/relationships/notesMaster" Target="/ppt/notesMasters/notesMaster1.xml" Id="Rd384f928f0034f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035e85780c4658" /><Relationship Type="http://schemas.openxmlformats.org/officeDocument/2006/relationships/notesMaster" Target="/ppt/notesMasters/notesMaster1.xml" Id="Re1b276625a0644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56b0c0982c41cd" /><Relationship Type="http://schemas.openxmlformats.org/officeDocument/2006/relationships/notesMaster" Target="/ppt/notesMasters/notesMaster1.xml" Id="R691e0a18d01f49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bb37ce75444b83" /><Relationship Type="http://schemas.openxmlformats.org/officeDocument/2006/relationships/notesMaster" Target="/ppt/notesMasters/notesMaster1.xml" Id="R97b78173eda345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291e99956e46fa" /><Relationship Type="http://schemas.openxmlformats.org/officeDocument/2006/relationships/notesMaster" Target="/ppt/notesMasters/notesMaster1.xml" Id="Rf81149a9532248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9eb253d7604591" /><Relationship Type="http://schemas.openxmlformats.org/officeDocument/2006/relationships/notesMaster" Target="/ppt/notesMasters/notesMaster1.xml" Id="R4c7d7c71369c49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5d8ee29d1549ba" /><Relationship Type="http://schemas.openxmlformats.org/officeDocument/2006/relationships/notesMaster" Target="/ppt/notesMasters/notesMaster1.xml" Id="R9445a6d47ba547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214df1e9e84be7" /><Relationship Type="http://schemas.openxmlformats.org/officeDocument/2006/relationships/notesMaster" Target="/ppt/notesMasters/notesMaster1.xml" Id="Rf86acbcaa20344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f78ddd34bd4b9a" /><Relationship Type="http://schemas.openxmlformats.org/officeDocument/2006/relationships/notesMaster" Target="/ppt/notesMasters/notesMaster1.xml" Id="Rd2336066703644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eb0223fdb84302" /><Relationship Type="http://schemas.openxmlformats.org/officeDocument/2006/relationships/notesMaster" Target="/ppt/notesMasters/notesMaster1.xml" Id="R133a3656f22f40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54d75ac32d4af9" /><Relationship Type="http://schemas.openxmlformats.org/officeDocument/2006/relationships/notesMaster" Target="/ppt/notesMasters/notesMaster1.xml" Id="R201ca65540bd47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Open by introducing the project name and each team member. State that Manik will present the frontend-only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student problem before discussing technology. Use the screenshot only as evidence of the learning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Define the four-part value of the project and connect it to the upcoming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Give a short tour of the project capabilities. This is the bridge between problem and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Walk left to right. Explain that the backend acts as the controlled middle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everyday language: API endpoints are backend doors that accept a request and return a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retrieval augmented generation without jargon: first find the relevant notes, then formulate the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Manik can explain frontend as the visible layer that turns backend data into usable interactions.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Point to the two real product screens. Describe hierarchy: orient first, then let the student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Clarify that this is 3D-styled visual treatment in the interface, built for a friendly, interactive feeling.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Emphasise reliability. The fallback lets students keep practising instead of only seeing an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Describe validation honestly: automated backend checks, build verification and browser-visible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End the technical story by showing that the roadmap extends the current product rather than changing its core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Invite the faculty to see the login, selected material, study chat and generated quiz. Share the presentation naturally between all members.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3a191c89d4d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214bd9e28467d" /><Relationship Type="http://schemas.openxmlformats.org/officeDocument/2006/relationships/slideLayout" Target="/ppt/slideLayouts/slideLayout1.xml" Id="Rf3ded958123e41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ed958123e41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814d57e22467f" /><Relationship Type="http://schemas.openxmlformats.org/officeDocument/2006/relationships/image" Target="/ppt/media/image.png" Id="R12873bbc858b47cc" /><Relationship Type="http://schemas.openxmlformats.org/officeDocument/2006/relationships/notesSlide" Target="/ppt/notesSlides/notesSlide1.xml" Id="Rffe443e003d5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28e672e6c43e2" /><Relationship Type="http://schemas.openxmlformats.org/officeDocument/2006/relationships/image" Target="/ppt/media/image2.png" Id="Reee732febc8a499d" /><Relationship Type="http://schemas.openxmlformats.org/officeDocument/2006/relationships/notesSlide" Target="/ppt/notesSlides/notesSlide2.xml" Id="R7fd4863e8729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248cb97304df9" /><Relationship Type="http://schemas.openxmlformats.org/officeDocument/2006/relationships/notesSlide" Target="/ppt/notesSlides/notesSlide3.xml" Id="R71fb7931d68f4f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af212f46f46b2" /><Relationship Type="http://schemas.openxmlformats.org/officeDocument/2006/relationships/image" Target="/ppt/media/image3.png" Id="R3be976f9e31b433c" /><Relationship Type="http://schemas.openxmlformats.org/officeDocument/2006/relationships/notesSlide" Target="/ppt/notesSlides/notesSlide4.xml" Id="R26bd07818fbc4f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1f771bc1b4f43" /><Relationship Type="http://schemas.openxmlformats.org/officeDocument/2006/relationships/notesSlide" Target="/ppt/notesSlides/notesSlide5.xml" Id="R241351eb0a9e43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ca040f64e46d8" /><Relationship Type="http://schemas.openxmlformats.org/officeDocument/2006/relationships/image" Target="/ppt/media/image4.png" Id="Rb8fcb6a323e44040" /><Relationship Type="http://schemas.openxmlformats.org/officeDocument/2006/relationships/notesSlide" Target="/ppt/notesSlides/notesSlide6.xml" Id="Ra508a9131b7743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3f86fedbe4aa0" /><Relationship Type="http://schemas.openxmlformats.org/officeDocument/2006/relationships/notesSlide" Target="/ppt/notesSlides/notesSlide7.xml" Id="R2691bbb0456140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aec075a5e4fb4" /><Relationship Type="http://schemas.openxmlformats.org/officeDocument/2006/relationships/image" Target="/ppt/media/image5.png" Id="R2315a0e3f7bc4ff9" /><Relationship Type="http://schemas.openxmlformats.org/officeDocument/2006/relationships/notesSlide" Target="/ppt/notesSlides/notesSlide8.xml" Id="R8c5d3d9cd33a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9be795ae249d4" /><Relationship Type="http://schemas.openxmlformats.org/officeDocument/2006/relationships/image" Target="/ppt/media/image6.png" Id="R220df0a9378c4e53" /><Relationship Type="http://schemas.openxmlformats.org/officeDocument/2006/relationships/image" Target="/ppt/media/image7.png" Id="R8a69dcd797d6462e" /><Relationship Type="http://schemas.openxmlformats.org/officeDocument/2006/relationships/notesSlide" Target="/ppt/notesSlides/notesSlide9.xml" Id="Rf888b1976ca24e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92733c3ef4eb3" /><Relationship Type="http://schemas.openxmlformats.org/officeDocument/2006/relationships/image" Target="/ppt/media/image8.png" Id="R0caaac57ad774b0a" /><Relationship Type="http://schemas.openxmlformats.org/officeDocument/2006/relationships/notesSlide" Target="/ppt/notesSlides/notesSlide10.xml" Id="Rda10d23a6fbb4e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1a8a0271748f7" /><Relationship Type="http://schemas.openxmlformats.org/officeDocument/2006/relationships/image" Target="/ppt/media/image9.png" Id="R8e7aca6bf8b248ce" /><Relationship Type="http://schemas.openxmlformats.org/officeDocument/2006/relationships/notesSlide" Target="/ppt/notesSlides/notesSlide11.xml" Id="R9e6e13d1196b4f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8f9ff58944636" /><Relationship Type="http://schemas.openxmlformats.org/officeDocument/2006/relationships/notesSlide" Target="/ppt/notesSlides/notesSlide12.xml" Id="R2eedcc55f39848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6f7c4db85485e" /><Relationship Type="http://schemas.openxmlformats.org/officeDocument/2006/relationships/image" Target="/ppt/media/image10.png" Id="R04cc7e6849844f77" /><Relationship Type="http://schemas.openxmlformats.org/officeDocument/2006/relationships/notesSlide" Target="/ppt/notesSlides/notesSlide13.xml" Id="Rc002ee06570b44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a0f1bc6ac4025" /><Relationship Type="http://schemas.openxmlformats.org/officeDocument/2006/relationships/notesSlide" Target="/ppt/notesSlides/notesSlide14.xml" Id="R833ad1bd727a4e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531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DF354-7D9A-4EEA-ABEA-DA69E42A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-13525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89ECD-DF5B-4879-AA6D-7784E06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619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955DE-81C7-4359-922E-EAB5E3D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2266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C9A44-C706-4339-A46C-5CD8798B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MID-TERM PROJECT DISPLAY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1E224-E54D-4522-8A81-95A38544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StudyForge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5D646-3952-4905-BFC2-2BF6728C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EFFF"/>
                </a:solidFill>
                <a:latin typeface="Arial"/>
                <a:ea typeface="Arial"/>
                <a:cs typeface="Arial"/>
              </a:rPr>
              <a:t>A focused study companion that turns learning material into organised practice.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73bbc858b47cc"/>
          <a:srcRect xmlns:a="http://schemas.openxmlformats.org/drawingml/2006/main" l="0" t="10338" r="0" b="10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1952625"/>
            <a:ext cx="4362450" cy="2876550"/>
          </a:xfrm>
          <a:prstGeom xmlns:a="http://schemas.openxmlformats.org/drawingml/2006/main" prst="roundRect">
            <a:avLst>
              <a:gd name="adj" fmla="val 529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FE635-C53A-4E25-886F-AB3269CB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4362450" cy="2876550"/>
          </a:xfrm>
          <a:prstGeom xmlns:a="http://schemas.openxmlformats.org/drawingml/2006/main" prst="roundRect">
            <a:avLst>
              <a:gd name="adj" fmla="val 52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5A531-EF29-4735-A123-4C96643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BFFCE-2478-43B6-BBD1-73D654A1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8DD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DDF4"/>
                </a:solidFill>
                <a:latin typeface="Arial"/>
                <a:ea typeface="Arial"/>
                <a:cs typeface="Arial"/>
              </a:rPr>
              <a:t>B.Tech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38311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CF832-5012-4DB9-8C00-3B5C6E2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65E09-59DD-4F12-972E-8EF98CF8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8FEF5-6C8D-45BF-BEDE-0F65205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75994-175C-4B7E-B20F-B04A7B52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02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19765-9B34-4A3B-8565-F9C126B7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395C6-B189-4893-8C39-3DA42676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Students need one calm place to learn, practice and 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BBF7D-171B-4F17-90D6-3FBB3B0D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 material is commonly scattered across PDFs, notes, search tabs and separate quiz tools.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732febc8a499d"/>
          <a:srcRect xmlns:a="http://schemas.openxmlformats.org/drawingml/2006/main" l="0" t="5020" r="0" b="5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914400"/>
            <a:ext cx="4191000" cy="42100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9FDA1-49BE-4F11-9262-2E649AB9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4191000" cy="421005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504D1-FF61-4878-9BA7-11900686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9A4C8-7AD4-4E4E-AE85-72EA83FD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Revision becomes slower when key points are hidden inside long notes.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91D05-92DF-4FA2-840A-EC61037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0DD16-1A72-46B9-A48E-EE57117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Generic practice questions repeat ideas and do not reflect the uploaded material.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67AE0-EDEB-471E-B0AE-F249F29E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D8DC1-22FA-44FB-A431-B0E3C2F2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Students also need a simple way to track tasks, chat about a topic and return to their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E8BF1-B1BF-44E2-8992-F6CB2693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705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B.TECH STUDENTS</a:t>
            </a:r>
          </a:p>
        </p:txBody>
      </p:sp>
    </p:spTree>
    <p:extLst>
      <p:ext uri="{BB962C8B-B14F-4D97-AF65-F5344CB8AC3E}">
        <p14:creationId xmlns:p14="http://schemas.microsoft.com/office/powerpoint/2010/main" val="522289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A13FA0-0846-4A3C-9D7B-43EA964D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4CDF7-AE92-4DBD-B4C0-03F4CF13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B1637-8F9E-4095-A9E4-F2CE1D4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434CE-2003-40E3-B600-EA2E9DF3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03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E4EE2-6CCC-45FF-B2E5-2DE7CA72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160AB-858B-4BE9-9998-A9F74843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Make study actions feel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A6147-E74D-411E-8D90-F07BB4C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brings material, AI assistance and personal organisation into one web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FCC60-CF6B-4068-A537-7B274A3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BB593-CF52-4F5E-95D1-90CAB4F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BEAD4-71DA-4B8A-B01D-24889AE5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9A628-605B-4856-823C-02CF949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Upload PDFs and keep study material available in a personal workspace.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34933-980B-4263-B523-6357017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E54A3-B165-4339-9794-1709023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75352-C320-4754-9A9C-714F196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F540D-A344-412B-B99C-7507BD9E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Ask questions grounded in the selected study material.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FD6BF-4985-42EE-A30D-83AA4FD8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FF451-94DE-4754-AE83-2DD7CFFF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A8E3C-C369-483C-8258-70A97399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D7D04-DD9C-4EF8-B1FE-995AB549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Generate flashcards and quizzes with broader, less repetitive coverage.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4EF95-DC2B-4088-861A-E174F37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8E536-FB05-4115-9416-CDA8D3E0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88872-0B54-49DF-B1C2-D8D4A3E8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5B63A-A5C9-4E70-9EFC-29C53121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Use a dashboard, planner, streaks and profile preferences to stay consistent.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7AD62-0051-4476-BF8C-A34E6190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product goal is not just AI answers. It is a repeatable study workflow.</a:t>
            </a:r>
          </a:p>
        </p:txBody>
      </p:sp>
    </p:spTree>
    <p:extLst>
      <p:ext uri="{BB962C8B-B14F-4D97-AF65-F5344CB8AC3E}">
        <p14:creationId xmlns:p14="http://schemas.microsoft.com/office/powerpoint/2010/main" val="252278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51527-CB09-41FA-A44C-50711810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0A064-A07D-4D84-9FC0-EFDF9C8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063A8-A36E-4F50-86BD-612F71D4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8D97E-ECBA-4906-92D6-A58EC482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04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77FE0-E7B8-4B93-90B5-B4AF5FCE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STUDENTS CAN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7874C-771C-4ACB-B0C7-A9E7CE16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One application, several focused study actions.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976f9e31b433c"/>
          <a:srcRect xmlns:a="http://schemas.openxmlformats.org/drawingml/2006/main" l="15278" t="0" r="15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0287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D2C68-BF7A-4F16-8FAF-B62A61C1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287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ED70E-8908-42DD-8F77-43E8D7ED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Material 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48DA-238C-4930-9382-6FDE473C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Store uploaded PDFs and choose the active study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8CD37-1677-4E31-B36E-010840D8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4BC70-4F56-47F6-B911-3D2720E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Study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1A3B0-80FD-45E1-ABBB-8199CA6A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Ask a topic-specific question and receive a grounded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69C0F-5965-4AB2-9B94-D48F2E7D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89811-E785-435F-931C-9FEA8398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961BF-BF1E-463B-8A86-A30EB9B6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Create short review prompts for recall practice.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21CBF-B854-47C0-A1D7-C5D27F0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907BA-C0FB-4829-92AB-307E95A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54C98-690E-428C-819C-44CFFA5C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Attempt varied MCQs and receive immediate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C29F5-4FD7-414C-8986-06200B34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71BFA-89EF-4203-A5A0-3A68E283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78305-8B67-45CD-A890-408BFA1D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Organise tasks and deadlines around a study routine.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EA2ED-FB65-4938-BEA8-740D66D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3616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35493-FAEB-4418-9EF3-C77FB6C1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9BDCB-A9F3-43ED-BE1C-D2D6457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207A5-0056-40CD-9A2A-A390C6D3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825C7-7D22-4434-8BDE-99EF003C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05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22E94-2376-44AF-A4A9-A8A594F3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CEB1D-B3C7-4466-AB23-41981A3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 React frontend communicates with a FastAPI backend and local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52B85-5532-4A01-A8CB-C031418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C3C2A-9936-42D6-931E-317702C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A863-BFCA-4527-B762-A4CE0B26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React and Next.js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E287D-DA47-471D-82F7-0A9C964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8F4BA-B533-4DE6-95F7-3A1E16A5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FastAPI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1B716-51E7-4751-BBA8-34E7810B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API routes and business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67518-D4EB-405D-9526-99FFCA2F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D5A90-072E-417E-9655-DE7A7B73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SQLite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4FEB9-FF7A-46CA-A30A-F98E9AB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Accounts, preferences and 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20302-3F3D-4147-8059-9455A094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34B0D-15EB-441C-8FDD-3538F96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765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Study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6133E-49BB-43D0-AC77-4C15CF79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PDF text, chunks and AI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C6FDF-B1AC-47D3-A859-4C14566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70962-A100-488C-9560-B341B056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D47D8-FC60-48D5-9AA7-EF1E19D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287C5-C05B-4C47-AF25-02C7816C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browser never directly handles database queries or provider calls. The backend manages these steps.</a:t>
            </a:r>
          </a:p>
        </p:txBody>
      </p:sp>
    </p:spTree>
    <p:extLst>
      <p:ext uri="{BB962C8B-B14F-4D97-AF65-F5344CB8AC3E}">
        <p14:creationId xmlns:p14="http://schemas.microsoft.com/office/powerpoint/2010/main" val="1286054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CBA5D-BE73-4496-AD20-2BB3E88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3DC18-8E93-46BD-8CAF-8E0B9A83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B8825-9284-4B12-A3FF-E3397E3D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B908F-2446-44DF-B539-CF6BF927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06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1491A-936C-483E-B100-FD20DED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D9DCD-E791-4242-BC10-D90D911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 request travels through clear API steps before the student sees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58A1A-AA1E-4301-BAE9-EF16EBEE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69C56-B26D-46B3-AF87-90D51867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286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Create account, sign in and protect user-specific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D5D03-305B-4251-A2EA-A999AB49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63747-03FA-49A0-8443-21618C7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Material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7C4FD-774E-4E46-A1C6-57C77AE7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52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Read PDF text, split it into searchable chunks and save useful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DBD86-CFC7-4377-9A35-56FC2CEA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0EDEA-580B-4ABA-9EDB-F9C2DADC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5212E-4D4E-41B6-A1E2-E0601FED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19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Receive questions, flashcard requests and quiz requests from the frontend.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8ABED-D9A2-46B6-B1DB-4CDFC57C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FA2CA-FB7D-4E6F-96DF-7EADCCB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AD6B9-59C8-43DB-B5C1-6A2DB253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86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Store profiles, tasks, files and selected study context in SQLite.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C2300-8E38-4E4A-BF61-5485200D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cb6a323e44040"/>
          <a:srcRect xmlns:a="http://schemas.openxmlformats.org/drawingml/2006/main" l="21560" t="0" r="215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733550"/>
            <a:ext cx="1885950" cy="2857500"/>
          </a:xfrm>
          <a:prstGeom xmlns:a="http://schemas.openxmlformats.org/drawingml/2006/main" prst="roundRect">
            <a:avLst>
              <a:gd name="adj" fmla="val 808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80E98-5E78-49A0-BC2E-A02A7643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3550"/>
            <a:ext cx="1885950" cy="2857500"/>
          </a:xfrm>
          <a:prstGeom xmlns:a="http://schemas.openxmlformats.org/drawingml/2006/main" prst="roundRect">
            <a:avLst>
              <a:gd name="adj" fmla="val 808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017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29A0C-6480-47AE-93FF-7F36396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94CB1-8C52-453A-81F1-4D6E46F5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34B1F-F2A7-4251-8F1C-677AD2DC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E0E2B-1DAC-47B0-B797-FCB5D6CD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07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2F8C2-A25E-4004-9F9D-117EA3C8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GROUNDED AI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88177-E85A-4F5C-A70C-DB7ED8BE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selected PDF supplies context for answers and practice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CC228-5BB3-4250-B14F-83EE47E1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D958A-7796-453A-8299-6CE2173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CD00E-CB9C-4AD2-9D56-AF1943A5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9ABA7-B4F7-45CC-8EF9-97698478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PyMuPDF extracts text from the student’s document.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370F2-F85B-488E-80BB-D778DB21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148F9-D915-43BD-A9C2-F0A64B2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64959-3C11-4588-893D-78699D06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Chunk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C7667-A11E-4A4A-B87E-8C591E1B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backend divides text into smaller searchable pieces.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A541D-A15D-4058-B460-180B3FC7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176DB-1F82-4EF5-837B-D5349298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5949A-FC5A-4670-B0E3-566F94AE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Find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AC3F8-7DDA-49B1-80BF-A96A7CBB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TF-IDF retrieval selects relevant chunks for a question.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8DC74-C27B-4B5D-94AC-1112C151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61054-54E4-4C1C-B26C-533242D9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60AE4-B99A-469C-B084-93EB381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Generate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55EB1-1B11-419E-85E3-8A830275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Gemini is used when available, with local handling for reliability.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E32FD-61F3-428E-AC34-C54124A6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Why this matters: the system can answer using material the student selected, instead of only a generic prompt.</a:t>
            </a:r>
          </a:p>
        </p:txBody>
      </p:sp>
    </p:spTree>
    <p:extLst>
      <p:ext uri="{BB962C8B-B14F-4D97-AF65-F5344CB8AC3E}">
        <p14:creationId xmlns:p14="http://schemas.microsoft.com/office/powerpoint/2010/main" val="11347666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031F4-28EE-4908-9CE6-2C7ADA6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5167C-75B2-4BB8-A9B7-0634351E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3420C-69C5-4F0A-B89F-74C2545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7F6F3-B08F-448A-92A9-852B8892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08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41F8-50B1-45FA-91C5-C2F57AC7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FRONTEND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4D738-B47F-4FA9-B6D4-5912FF5D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frontend makes study tasks clear.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4D92D-5193-44CB-B68E-07DC486D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5a0e3f7bc4ff9"/>
          <a:srcRect xmlns:a="http://schemas.openxmlformats.org/drawingml/2006/main" l="12855" t="0" r="12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99060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D829-76B1-4A05-8153-B3487AB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9060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DDCC9-49F8-4DE6-AB6B-FCC6500E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App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42A32-513B-4C9D-A4AA-7A2354D9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Dashboard, library, chat, quizzes, planner and profile pages.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EC452-490D-43EB-9D34-D1B3653F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Reusable 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F6051-C66F-418E-B0EA-3151A78F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Navigation, cards, controls and modal patterns are shared across screens.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6C44C-6492-43B9-9E44-3E9C310B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State and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00AF5-6C82-402D-A266-A15CADD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frontend calls backend routes and refreshes visible study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A1768-7DCF-45E6-B5B9-51A81DE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Responsive styling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6B86A-3910-4EE8-BAE0-59A285D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Layouts adapt to common desktop and mobile widths.</a:t>
            </a:r>
          </a:p>
        </p:txBody>
      </p:sp>
    </p:spTree>
    <p:extLst>
      <p:ext uri="{BB962C8B-B14F-4D97-AF65-F5344CB8AC3E}">
        <p14:creationId xmlns:p14="http://schemas.microsoft.com/office/powerpoint/2010/main" val="1061264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216D8-D6C2-4A0C-8341-00FA776C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25E49-1FAE-4D51-8409-BC2D0D63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80625-DBEC-4ECA-ADD9-CC9FFA7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F0D70-C93B-405B-9796-BF46F3E2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09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C6C78-B605-4C70-96B2-D96A93C4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A HUMAN STUDY ROUTINE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6D6D6-E7E7-4CA8-82C8-E32D5FD3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Warm surfaces, clear hierarchy and fewer distractions support regular use.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df0a9378c4e53"/>
          <a:srcRect xmlns:a="http://schemas.openxmlformats.org/drawingml/2006/main" l="0" t="11413" r="0" b="11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862E3-AA4C-40B9-8B74-F05F2CD8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9dcd797d6462e"/>
          <a:srcRect xmlns:a="http://schemas.openxmlformats.org/drawingml/2006/main" l="0" t="19391" r="0" b="19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8B065-7AD9-4CB8-8322-99A6BE7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B689C-BAB9-4063-9F9F-D894946B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299AF-B712-40A3-A262-E0D5BFC8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2038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CONTEXTUAL STUDY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91AF3-2E70-49DC-A810-9079A982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interface puts the next study action in view instead of making students search through technical menus.</a:t>
            </a:r>
          </a:p>
        </p:txBody>
      </p:sp>
    </p:spTree>
    <p:extLst>
      <p:ext uri="{BB962C8B-B14F-4D97-AF65-F5344CB8AC3E}">
        <p14:creationId xmlns:p14="http://schemas.microsoft.com/office/powerpoint/2010/main" val="1880835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9708B-ED73-4351-A2A8-B0D9557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EBD3-7301-4394-A736-E533B054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F858A-5C6A-476F-AB1D-443676FC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87BB6-C66E-4CFD-989C-966C1CF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10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E2C8C-E27A-4143-B4EE-141E338A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PROFILE, THEME AND AVATAR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3ECD1-2245-437B-BEAE-B358FFBF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Personalisation makes the product feel owned by the student.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aac57ad774b0a"/>
          <a:srcRect xmlns:a="http://schemas.openxmlformats.org/drawingml/2006/main" l="0" t="7924" r="0" b="7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895350"/>
            <a:ext cx="3657600" cy="413385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57586-D0F4-47F9-A177-D07D05A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3657600" cy="413385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8BE1C-2444-4D17-A6D9-DC1B1D40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4F141-CA45-4490-9CF3-4E7632F5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A profile setup flow stores preferences through the backend profile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AF19B-3ECF-4335-B982-BD14D741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7D2F1-7E20-4643-9E5A-A1D8A99A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Gender-aware options and custom choices are presented in a 3D-styled visual avatar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341BB-77B9-4318-B565-90099A8E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ECB05-3F3E-455A-AF8B-A51E0B7E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Theme controls support light and dark study environments while maintaining readable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DBC2A-9AA8-41C2-BDEA-8E69FC5C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2952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FRONTEND-ONLY PRESENTATION SECTION</a:t>
            </a:r>
          </a:p>
        </p:txBody>
      </p:sp>
    </p:spTree>
    <p:extLst>
      <p:ext uri="{BB962C8B-B14F-4D97-AF65-F5344CB8AC3E}">
        <p14:creationId xmlns:p14="http://schemas.microsoft.com/office/powerpoint/2010/main" val="356671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9476E-2A22-42FC-861B-F158F3AC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CB1CB-0C2E-4B24-8C1A-2C3A764E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983B0-6EC3-43BF-96C2-AE0E8009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A5935-F33F-4ADC-A232-6F72C6F5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11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3119B-339A-4541-B536-2A46AE7D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PRACTICE THAT STAYS USEFUL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48FA3-8E8B-4FF8-9C63-087266D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Flashcards and quizzes are designed to cover different ideas from the same material.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aca6bf8b248ce"/>
          <a:srcRect xmlns:a="http://schemas.openxmlformats.org/drawingml/2006/main" l="13578" t="0" r="135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8125" y="990600"/>
            <a:ext cx="3381375" cy="4000500"/>
          </a:xfrm>
          <a:prstGeom xmlns:a="http://schemas.openxmlformats.org/drawingml/2006/main" prst="roundRect">
            <a:avLst>
              <a:gd name="adj" fmla="val 450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DD320-207C-4BA4-8A85-C34794B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90600"/>
            <a:ext cx="3381375" cy="4000500"/>
          </a:xfrm>
          <a:prstGeom xmlns:a="http://schemas.openxmlformats.org/drawingml/2006/main" prst="roundRect">
            <a:avLst>
              <a:gd name="adj" fmla="val 45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B46B5-96F5-40A7-A7FE-E7F8FC9D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69E70-A2EE-4928-959D-B786DB59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072DA-B378-4F2E-A5A5-92A7AFEF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Broader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2EA30-230D-4044-9A01-E7920631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Prompts ask for several different concepts.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8ECFA-3182-4C2A-8ECC-7520F83D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CCC1D-2280-4CD9-97C1-EA08F5C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4ACC2-8F78-4372-A792-C9470A59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051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Duplicate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A3571-235C-4B33-9494-28341FF7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09975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Similarity checks remove near-repeat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658F5-DAE7-4CC8-8282-4A5FAA5E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1E8BE-5B03-48F8-8CA0-4EE2EDE1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B06BC-1B35-4543-B5FB-9A42F2B8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051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Topic labels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A0DDF-5FA5-4270-A58B-0999B743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9975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Focus labels show what each item tests.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09DB4-8202-4196-806B-C13EC188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If the external AI provider is temporarily busy, the backend creates a local source-grounded quiz from saved material chunks.</a:t>
            </a:r>
          </a:p>
        </p:txBody>
      </p:sp>
    </p:spTree>
    <p:extLst>
      <p:ext uri="{BB962C8B-B14F-4D97-AF65-F5344CB8AC3E}">
        <p14:creationId xmlns:p14="http://schemas.microsoft.com/office/powerpoint/2010/main" val="15178983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46EE5-F1F5-4D07-8D6F-0EE678FD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721FE-9F18-4A11-BDBD-9BCEC539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D15AE-B10A-42D5-A513-983E9796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27077-644C-4D98-93B2-023C1734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12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F715D-6688-46AD-9F96-F926BB90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VALIDATION AND CURRENT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3E83-562D-46B1-849B-312FD761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project was checked from backend behaviour through to the visible frontend build.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D2B0F-A17D-48A4-84B4-A04F9994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837BD-F4AA-42B9-B7C9-93DBE9E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D7570-B4B5-46EF-A52C-00D4CBCC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Backend reliability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7171A-467C-405C-AE0E-4C389DF7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Targeted tests covered AI failure handling and workspace behaviour.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FB498-E4AD-462D-8DEB-8E3DCF2D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6AE7D-8ACB-4EA3-BEBF-4635DF02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43EFB-0DF3-4B1C-BFD7-0F9E8367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Local quiz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7CC4F-7807-493C-AE1B-1A687565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Direct testing generated varied questions from stored study chunks.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8BB1D-3AE2-4F6F-B596-2BF0A839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474C2-DEEA-41EF-AD2A-E010B85F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1EE05-1FED-4ACA-9CEA-3DA8E808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9C886-366F-4020-B10B-42CF9BC5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Next.js frontend completed a production build successfully.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1C98D-40AE-4B20-914E-408C26E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27F82-B619-4FD7-8DF0-1DF4EAA4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4A5A9-21B0-40D1-99D0-3A2DBBFB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Browser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CA3CC-6A8D-4B54-8C58-2E05A81E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Pages and study actions were checked through the running local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7605086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66713-EE9A-4333-9822-3433FE70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68AF0-25D7-4A52-85CF-DFA58F56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5C6E3-05F5-4BAE-9247-130815D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CD680-1438-4799-8B37-82D67F31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13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690E3-C498-407C-BBF5-2A74F7DE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06779-B235-42E5-AB5E-1C14F56F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project has a solid student workflow and clear paths for future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932EC-0D62-417D-B13F-AF1006EE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Smarter content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51CF2-3F5E-4E14-93AE-86FD14C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Allow students to rate cards and quizzes to improve future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91175-5AE8-4076-8F2C-3927801C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9BA4F-D242-46C5-975E-3BEE1CB2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74331-5667-4B77-97DE-286E3254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Show weak topics, time spent and revision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3C1C1-B449-4B89-9EC3-BE943D67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B151C-1C2E-4B5D-92B1-9D9869C9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3CFB4-283E-457E-A9BF-735FAD8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Support notes, images and additional subject-specific templates.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91FE7-77F5-4445-8393-73D1C77C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c7e6849844f77"/>
          <a:srcRect xmlns:a="http://schemas.openxmlformats.org/drawingml/2006/main" l="0" t="1538" r="0" b="1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52625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EB4FC-8512-49D8-8B1B-6478144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88784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5531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F9846-4A1A-4CFF-9577-5032ED2F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62100" y="36957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593F9-2D74-4ACF-9B49-5E98A331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2095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A93D6-5470-4E66-BA0F-D49DB102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177FA-54AE-4102-90EF-116DAE38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881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ED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DFF"/>
                </a:solidFill>
                <a:latin typeface="Arial"/>
                <a:ea typeface="Arial"/>
                <a:cs typeface="Arial"/>
              </a:rPr>
              <a:t>1. Sign in  →  2. Select study material  →  3. Ask a question  →  4. Generate a 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6047-ECF6-45DC-ADCA-DC977D02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874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B5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FF12D-1250-4F38-A4AD-B2508AAD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62AFD-1F0F-4BA7-9B00-0C3CF76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ED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ED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319C7-2C65-4229-99A4-A419D7C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47757-167E-4800-A86D-CAEEC419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DD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DDF4"/>
                </a:solidFill>
                <a:latin typeface="Arial"/>
                <a:ea typeface="Arial"/>
                <a:cs typeface="Arial"/>
              </a:rPr>
              <a:t>StudyForge AI — a calmer study workspace for B.Tech students</a:t>
            </a:r>
          </a:p>
        </p:txBody>
      </p:sp>
    </p:spTree>
    <p:extLst>
      <p:ext uri="{BB962C8B-B14F-4D97-AF65-F5344CB8AC3E}">
        <p14:creationId xmlns:p14="http://schemas.microsoft.com/office/powerpoint/2010/main" val="888800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2026-10-05T14:02:44.1020000Z</dcterms:created>
  <dcterms:modified xsi:type="dcterms:W3CDTF">2026-10-05T14:02:44.1020000Z</dcterms:modified>
</coreProperties>
</file>