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7ec56557cc4a63" /><Relationship Type="http://schemas.openxmlformats.org/officeDocument/2006/relationships/extended-properties" Target="/docProps/app.xml" Id="Rce3931bb2a8146ca" /><Relationship Type="http://schemas.openxmlformats.org/officeDocument/2006/relationships/officeDocument" Target="/ppt/presentation.xml" Id="R6123d9984c1e47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a8cb5536454e25"/>
  </p:sldMasterIdLst>
  <p:notesMasterIdLst>
    <p:notesMasterId xmlns:r="http://schemas.openxmlformats.org/officeDocument/2006/relationships" r:id="R1eee8261f63a4911"/>
  </p:notesMasterIdLst>
  <p:sldIdLst>
    <p:sldId xmlns:r="http://schemas.openxmlformats.org/officeDocument/2006/relationships" id="256" r:id="Rba13e86d536c4432"/>
    <p:sldId xmlns:r="http://schemas.openxmlformats.org/officeDocument/2006/relationships" id="257" r:id="R34f5117ff7a14499"/>
    <p:sldId xmlns:r="http://schemas.openxmlformats.org/officeDocument/2006/relationships" id="258" r:id="R7f47b751100b4ca4"/>
    <p:sldId xmlns:r="http://schemas.openxmlformats.org/officeDocument/2006/relationships" id="259" r:id="R07c23386ee664c12"/>
    <p:sldId xmlns:r="http://schemas.openxmlformats.org/officeDocument/2006/relationships" id="260" r:id="Rac18fec1cb9f4e26"/>
    <p:sldId xmlns:r="http://schemas.openxmlformats.org/officeDocument/2006/relationships" id="261" r:id="Ra53a7e8d0c104a22"/>
    <p:sldId xmlns:r="http://schemas.openxmlformats.org/officeDocument/2006/relationships" id="262" r:id="R6d982028b81247f7"/>
    <p:sldId xmlns:r="http://schemas.openxmlformats.org/officeDocument/2006/relationships" id="263" r:id="Rdd3d2db5685f469c"/>
    <p:sldId xmlns:r="http://schemas.openxmlformats.org/officeDocument/2006/relationships" id="264" r:id="Rc64b06833f554bd3"/>
    <p:sldId xmlns:r="http://schemas.openxmlformats.org/officeDocument/2006/relationships" id="265" r:id="R059071b9509b4cc5"/>
    <p:sldId xmlns:r="http://schemas.openxmlformats.org/officeDocument/2006/relationships" id="266" r:id="R7e087d8badee4d13"/>
    <p:sldId xmlns:r="http://schemas.openxmlformats.org/officeDocument/2006/relationships" id="267" r:id="R164b335314ba475c"/>
    <p:sldId xmlns:r="http://schemas.openxmlformats.org/officeDocument/2006/relationships" id="268" r:id="Rcab04557189949ab"/>
    <p:sldId xmlns:r="http://schemas.openxmlformats.org/officeDocument/2006/relationships" id="269" r:id="R2d3c9d8515e347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5ff242c8db47e5" /><Relationship Type="http://schemas.openxmlformats.org/officeDocument/2006/relationships/slideMaster" Target="/ppt/slideMasters/slideMaster1.xml" Id="R37a8cb5536454e25" /><Relationship Type="http://schemas.openxmlformats.org/officeDocument/2006/relationships/notesMaster" Target="/ppt/notesMasters/notesMaster1.xml" Id="R1eee8261f63a4911" /><Relationship Type="http://schemas.openxmlformats.org/officeDocument/2006/relationships/presProps" Target="/ppt/presProps.xml" Id="R998ecf8f474544d9" /><Relationship Type="http://schemas.openxmlformats.org/officeDocument/2006/relationships/tableStyles" Target="/ppt/tableStyles.xml" Id="R1aa11d37f1c14a1b" /><Relationship Type="http://schemas.openxmlformats.org/officeDocument/2006/relationships/slide" Target="/ppt/slides/slide1.xml" Id="Rba13e86d536c4432" /><Relationship Type="http://schemas.openxmlformats.org/officeDocument/2006/relationships/slide" Target="/ppt/slides/slide2.xml" Id="R34f5117ff7a14499" /><Relationship Type="http://schemas.openxmlformats.org/officeDocument/2006/relationships/slide" Target="/ppt/slides/slide3.xml" Id="R7f47b751100b4ca4" /><Relationship Type="http://schemas.openxmlformats.org/officeDocument/2006/relationships/slide" Target="/ppt/slides/slide4.xml" Id="R07c23386ee664c12" /><Relationship Type="http://schemas.openxmlformats.org/officeDocument/2006/relationships/slide" Target="/ppt/slides/slide5.xml" Id="Rac18fec1cb9f4e26" /><Relationship Type="http://schemas.openxmlformats.org/officeDocument/2006/relationships/slide" Target="/ppt/slides/slide6.xml" Id="Ra53a7e8d0c104a22" /><Relationship Type="http://schemas.openxmlformats.org/officeDocument/2006/relationships/slide" Target="/ppt/slides/slide7.xml" Id="R6d982028b81247f7" /><Relationship Type="http://schemas.openxmlformats.org/officeDocument/2006/relationships/slide" Target="/ppt/slides/slide8.xml" Id="Rdd3d2db5685f469c" /><Relationship Type="http://schemas.openxmlformats.org/officeDocument/2006/relationships/slide" Target="/ppt/slides/slide9.xml" Id="Rc64b06833f554bd3" /><Relationship Type="http://schemas.openxmlformats.org/officeDocument/2006/relationships/slide" Target="/ppt/slides/slide10.xml" Id="R059071b9509b4cc5" /><Relationship Type="http://schemas.openxmlformats.org/officeDocument/2006/relationships/slide" Target="/ppt/slides/slide11.xml" Id="R7e087d8badee4d13" /><Relationship Type="http://schemas.openxmlformats.org/officeDocument/2006/relationships/slide" Target="/ppt/slides/slide12.xml" Id="R164b335314ba475c" /><Relationship Type="http://schemas.openxmlformats.org/officeDocument/2006/relationships/slide" Target="/ppt/slides/slide13.xml" Id="Rcab04557189949ab" /><Relationship Type="http://schemas.openxmlformats.org/officeDocument/2006/relationships/slide" Target="/ppt/slides/slide14.xml" Id="R2d3c9d8515e347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8c6272e3684f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828cac7c9b4862" /><Relationship Type="http://schemas.openxmlformats.org/officeDocument/2006/relationships/notesMaster" Target="/ppt/notesMasters/notesMaster1.xml" Id="R173100fe694f41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65078dcd8e47c8" /><Relationship Type="http://schemas.openxmlformats.org/officeDocument/2006/relationships/notesMaster" Target="/ppt/notesMasters/notesMaster1.xml" Id="R7b770b62a56144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bbd3e5948f4c62" /><Relationship Type="http://schemas.openxmlformats.org/officeDocument/2006/relationships/notesMaster" Target="/ppt/notesMasters/notesMaster1.xml" Id="Raaa73bcf78574a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1186fe8eb249ee" /><Relationship Type="http://schemas.openxmlformats.org/officeDocument/2006/relationships/notesMaster" Target="/ppt/notesMasters/notesMaster1.xml" Id="Re2c421c660784b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b6e9ff61634dc0" /><Relationship Type="http://schemas.openxmlformats.org/officeDocument/2006/relationships/notesMaster" Target="/ppt/notesMasters/notesMaster1.xml" Id="R61cd068fb9054e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b6f75749da4bae" /><Relationship Type="http://schemas.openxmlformats.org/officeDocument/2006/relationships/notesMaster" Target="/ppt/notesMasters/notesMaster1.xml" Id="Rf8e8d49381c04b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6d91f09ef54b12" /><Relationship Type="http://schemas.openxmlformats.org/officeDocument/2006/relationships/notesMaster" Target="/ppt/notesMasters/notesMaster1.xml" Id="R37f096ae1e1d4e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5211697b344fea" /><Relationship Type="http://schemas.openxmlformats.org/officeDocument/2006/relationships/notesMaster" Target="/ppt/notesMasters/notesMaster1.xml" Id="R2734625607624e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effed625db45d6" /><Relationship Type="http://schemas.openxmlformats.org/officeDocument/2006/relationships/notesMaster" Target="/ppt/notesMasters/notesMaster1.xml" Id="Rba385f39c04d42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ba46dd12734d35" /><Relationship Type="http://schemas.openxmlformats.org/officeDocument/2006/relationships/notesMaster" Target="/ppt/notesMasters/notesMaster1.xml" Id="R6de3cc22fc0946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a6f8a9372e468b" /><Relationship Type="http://schemas.openxmlformats.org/officeDocument/2006/relationships/notesMaster" Target="/ppt/notesMasters/notesMaster1.xml" Id="R536d584f9b9c4b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72287c6a4e4605" /><Relationship Type="http://schemas.openxmlformats.org/officeDocument/2006/relationships/notesMaster" Target="/ppt/notesMasters/notesMaster1.xml" Id="R40154aaad484455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13df1bd993477c" /><Relationship Type="http://schemas.openxmlformats.org/officeDocument/2006/relationships/notesMaster" Target="/ppt/notesMasters/notesMaster1.xml" Id="R248a5c7510384b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90f5e4f4a8f45bb" /><Relationship Type="http://schemas.openxmlformats.org/officeDocument/2006/relationships/notesMaster" Target="/ppt/notesMasters/notesMaster1.xml" Id="R5604d4fe7c7f40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Introduce the team. State that Manik presents the frontend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Start with the real student problem, then explain the project as one connected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product in four actions. These are the project pillars.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Give a brief feature tour. Aasveer can mention each capability in one sentence.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that the backend is the controlled layer between what the student clicks and how data or AI is handled.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Use an everyday explanation: endpoints are doors in the backend that receive a request and send an organised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Describe the retrieval flow in simple language. Find the relevant notes first, then compose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Manik explains the frontend as the visible layer that helps students reach the next action quickly.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Use the screenshots to describe the user journey: first orient on the dashboard, then ask a study question with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Make an honest distinction: the avatar is 3D-styled in the UI, designed to feel visual and personal.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Emphasise the fallback: a provider issue should not stop the student from practising.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Summarise the validation: targeted backend tests, fallback behaviour, frontend build and browser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Close with realistic next steps that build on the current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Invite the faculty to see the actual application. Keep the final interaction shared across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7606385e1f4c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589cf3b2354238" /><Relationship Type="http://schemas.openxmlformats.org/officeDocument/2006/relationships/slideLayout" Target="/ppt/slideLayouts/slideLayout1.xml" Id="Rc3dc1cac567342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dc1cac567342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68a31e528425b" /><Relationship Type="http://schemas.openxmlformats.org/officeDocument/2006/relationships/image" Target="/ppt/media/image.png" Id="R79cdbcd3dd7541ee" /><Relationship Type="http://schemas.openxmlformats.org/officeDocument/2006/relationships/notesSlide" Target="/ppt/notesSlides/notesSlide1.xml" Id="Ree5f6ee8342145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046709b20445c" /><Relationship Type="http://schemas.openxmlformats.org/officeDocument/2006/relationships/image" Target="/ppt/media/image2.png" Id="R9e5ac76f3a7a4ae5" /><Relationship Type="http://schemas.openxmlformats.org/officeDocument/2006/relationships/notesSlide" Target="/ppt/notesSlides/notesSlide2.xml" Id="R4afd32cc82df43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9ceedc70f4f4b" /><Relationship Type="http://schemas.openxmlformats.org/officeDocument/2006/relationships/notesSlide" Target="/ppt/notesSlides/notesSlide3.xml" Id="Rdd72e44c70e24b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478a4d0794f12" /><Relationship Type="http://schemas.openxmlformats.org/officeDocument/2006/relationships/image" Target="/ppt/media/image3.png" Id="R8b74a3035c5c4ced" /><Relationship Type="http://schemas.openxmlformats.org/officeDocument/2006/relationships/notesSlide" Target="/ppt/notesSlides/notesSlide4.xml" Id="R08d37e33fad742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19440ac094501" /><Relationship Type="http://schemas.openxmlformats.org/officeDocument/2006/relationships/notesSlide" Target="/ppt/notesSlides/notesSlide5.xml" Id="R7223548a8aaf4b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6267e40e24319" /><Relationship Type="http://schemas.openxmlformats.org/officeDocument/2006/relationships/image" Target="/ppt/media/image4.png" Id="Ra186ebd6f9a7484c" /><Relationship Type="http://schemas.openxmlformats.org/officeDocument/2006/relationships/notesSlide" Target="/ppt/notesSlides/notesSlide6.xml" Id="Rd4b35588a8a840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5296325a54c87" /><Relationship Type="http://schemas.openxmlformats.org/officeDocument/2006/relationships/notesSlide" Target="/ppt/notesSlides/notesSlide7.xml" Id="Rfe01bb36651c4f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159c0ad1647c6" /><Relationship Type="http://schemas.openxmlformats.org/officeDocument/2006/relationships/image" Target="/ppt/media/image5.png" Id="R41031af4598e4d94" /><Relationship Type="http://schemas.openxmlformats.org/officeDocument/2006/relationships/notesSlide" Target="/ppt/notesSlides/notesSlide8.xml" Id="R0440e7b6441f4e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4eb804a41434f" /><Relationship Type="http://schemas.openxmlformats.org/officeDocument/2006/relationships/image" Target="/ppt/media/image6.png" Id="Rf197acd453bc4f78" /><Relationship Type="http://schemas.openxmlformats.org/officeDocument/2006/relationships/image" Target="/ppt/media/image7.png" Id="R2043cf12246949b1" /><Relationship Type="http://schemas.openxmlformats.org/officeDocument/2006/relationships/notesSlide" Target="/ppt/notesSlides/notesSlide9.xml" Id="R2e1a72269f8e45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de4a56c9d455d" /><Relationship Type="http://schemas.openxmlformats.org/officeDocument/2006/relationships/image" Target="/ppt/media/image8.png" Id="Rf07a0aa8bfdc45d5" /><Relationship Type="http://schemas.openxmlformats.org/officeDocument/2006/relationships/notesSlide" Target="/ppt/notesSlides/notesSlide10.xml" Id="R952960ffae9e4c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103308a544d28" /><Relationship Type="http://schemas.openxmlformats.org/officeDocument/2006/relationships/image" Target="/ppt/media/image9.png" Id="Rf5ed821b9ccc43ed" /><Relationship Type="http://schemas.openxmlformats.org/officeDocument/2006/relationships/notesSlide" Target="/ppt/notesSlides/notesSlide11.xml" Id="R1157518853344e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5c64aa3284688" /><Relationship Type="http://schemas.openxmlformats.org/officeDocument/2006/relationships/notesSlide" Target="/ppt/notesSlides/notesSlide12.xml" Id="R08016b342aa0462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3579f99c64b0f" /><Relationship Type="http://schemas.openxmlformats.org/officeDocument/2006/relationships/image" Target="/ppt/media/image10.png" Id="Rba114bb28b83418c" /><Relationship Type="http://schemas.openxmlformats.org/officeDocument/2006/relationships/notesSlide" Target="/ppt/notesSlides/notesSlide13.xml" Id="R69de86fd52194f9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19e80776b47a8" /><Relationship Type="http://schemas.openxmlformats.org/officeDocument/2006/relationships/notesSlide" Target="/ppt/notesSlides/notesSlide14.xml" Id="R82c48ea4c5804a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2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28320A-98DA-4571-AE2A-3F255D3A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A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97E86-E8A6-4AE6-95CE-559E2590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D6BC9-C53C-4F04-BB3C-E78D08B3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8F462-2B09-49DA-B099-8FF20C6D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01  ·  Team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AD8DF-4028-4DD4-BE30-DB616F2A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476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A7D80-EC80-490B-856E-101CEB27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MID-TERM PROJECT DISPLAY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488BA-890B-4521-BE2F-73AF991B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8587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StudyForge</a:t>
            </a:r>
          </a:p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D4A7E-C433-4307-A8DD-A0EE0004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504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8DFF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DFF4"/>
                </a:solidFill>
                <a:latin typeface="Arial"/>
                <a:ea typeface="Arial"/>
                <a:cs typeface="Arial"/>
              </a:rPr>
              <a:t>A study companion that turns class material into focused practice.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dbcd3dd7541ee"/>
          <a:srcRect xmlns:a="http://schemas.openxmlformats.org/drawingml/2006/main" l="0" t="4760" r="0" b="47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447800"/>
            <a:ext cx="4495800" cy="3381375"/>
          </a:xfrm>
          <a:prstGeom xmlns:a="http://schemas.openxmlformats.org/drawingml/2006/main" prst="roundRect">
            <a:avLst>
              <a:gd name="adj" fmla="val 676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5D195-B508-40FB-AD21-0F49D20A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47800"/>
            <a:ext cx="4495800" cy="3381375"/>
          </a:xfrm>
          <a:prstGeom xmlns:a="http://schemas.openxmlformats.org/drawingml/2006/main" prst="roundRect">
            <a:avLst>
              <a:gd name="adj" fmla="val 676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A83E1-6B6F-4D9E-AA4C-40784644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6667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E2E51-54D2-42E5-A980-A2F8C1CA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Akshita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8B01E-87A3-4D30-B433-F72C227C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054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Aasveer Singh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3FF74-9440-43AA-A2A2-A35D9050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505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Manik Jasrotia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959CE-FCCE-40D2-9E82-6C458A3D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6732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Frontend section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726AE-5470-4D50-BF51-49369E0B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054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Manik Jasrotia</a:t>
            </a:r>
          </a:p>
        </p:txBody>
      </p:sp>
    </p:spTree>
    <p:extLst>
      <p:ext uri="{BB962C8B-B14F-4D97-AF65-F5344CB8AC3E}">
        <p14:creationId xmlns:p14="http://schemas.microsoft.com/office/powerpoint/2010/main" val="16072231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365C1-0BC6-47F4-A536-8CF0010C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A8D1E-97F4-4CC6-833F-FA88303C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66C82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FBA6C-BCE2-491C-9F57-D0813FDB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02  ·  Akshita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20F35-5F90-4BF5-85A6-8CA096DF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THE STUDENT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4EDF0-49C1-4F78-94FD-420DDACE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Learning material is everywhere. A study workflow is not.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EDF6E-16AA-4F05-A7AB-F56EEE62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StudyForge turns scattered notes into an organised study loop.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B3073-042F-4799-98C0-147A0081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47625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08289-BF6B-4B31-9E3F-3D234624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Students often switch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between PDFs, browser tabs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separate practice tools.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F9A20-BD05-47DA-AB03-A15009C8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4DA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4DAF2"/>
                </a:solidFill>
                <a:latin typeface="Arial"/>
                <a:ea typeface="Arial"/>
                <a:cs typeface="Arial"/>
              </a:rPr>
              <a:t>The result is friction at exactly the moment they want to revise.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ac76f3a7a4ae5"/>
          <a:srcRect xmlns:a="http://schemas.openxmlformats.org/drawingml/2006/main" l="0" t="27232" r="0" b="272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72150" y="2447925"/>
            <a:ext cx="5619750" cy="28575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C157B-BC2A-4046-950A-D738A438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47925"/>
            <a:ext cx="5619750" cy="2857500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854E1-C0CA-42F3-87BB-72DD9286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24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A calmer starting 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249EB-E174-46FE-BA67-698A1AC0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8578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Select material → understand it → practise it → return tomorrow.</a:t>
            </a:r>
          </a:p>
        </p:txBody>
      </p:sp>
    </p:spTree>
    <p:extLst>
      <p:ext uri="{BB962C8B-B14F-4D97-AF65-F5344CB8AC3E}">
        <p14:creationId xmlns:p14="http://schemas.microsoft.com/office/powerpoint/2010/main" val="3022945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2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BC0570-4C15-46B3-8852-A865C013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A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D6830-3B62-4C08-A693-7071FB87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A2FB9-D5C7-463E-9892-8BEA80D0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C9FF0-96BA-4BD9-BB48-D46D5D38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03  ·  Akshita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F4208-3FE0-49C1-ADEE-92903F43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DB8FF"/>
                </a:solidFill>
                <a:latin typeface="Arial"/>
                <a:ea typeface="Arial"/>
                <a:cs typeface="Arial"/>
              </a:rPr>
              <a:t>THE PRODUCT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70DAE-3F1E-4250-8680-80AE57A3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study space. Four connected actions.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1C76F-7DE7-4DD3-A093-80721136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FD5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D5E9"/>
                </a:solidFill>
                <a:latin typeface="Arial"/>
                <a:ea typeface="Arial"/>
                <a:cs typeface="Arial"/>
              </a:rPr>
              <a:t>The value lies in moving naturally from material to understanding to practice.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E45E8-70A8-4342-927E-748F20C0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9875"/>
            <a:ext cx="238125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CDB8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BB8D1-5307-48E2-BC33-6930D875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D825C-9B6A-42F9-8CAE-F23E2463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B051E-F2ED-4D22-97A5-63D3AC96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196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Upload and keep material ready for revision.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71DBE-E4C3-4119-A4F8-4CBB027C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9875"/>
            <a:ext cx="238125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BCE7D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144F6F-B34D-404C-8AC8-77B5CEB3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813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480FD-533B-4FCC-8C53-137F2824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956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98542F-44CE-48E2-9BD6-F8C48D05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62375"/>
            <a:ext cx="196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Ask questions using the selected source.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97038-D7DE-43B2-9E78-8EEEDA09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09875"/>
            <a:ext cx="238125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B1C512-1ED2-4C47-BA44-EAD51BB4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813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4295DC-E3C7-4DB1-82D0-F974C840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956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6A12A0-B515-4BD9-A767-BB5ABAC8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62375"/>
            <a:ext cx="196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Create distinct flashcards and quizzes.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E921FD-F213-4BF8-9401-39663878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09875"/>
            <a:ext cx="238125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F5DF7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1F43D-185D-4EF3-9E05-5A4C2B60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813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95D160-5071-4EEC-842E-DA12DE98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956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Continue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1126D6-B0FE-43A7-9798-F5E309CB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62375"/>
            <a:ext cx="196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Plan tasks and make progress visible.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D8B64E-6D8D-4B4E-B693-18CD2DC3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86375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just answers. A repeatable learning habit.</a:t>
            </a:r>
          </a:p>
        </p:txBody>
      </p:sp>
    </p:spTree>
    <p:extLst>
      <p:ext uri="{BB962C8B-B14F-4D97-AF65-F5344CB8AC3E}">
        <p14:creationId xmlns:p14="http://schemas.microsoft.com/office/powerpoint/2010/main" val="10253188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5D2E5B-1C60-4960-A428-D8AA30B8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DE4EC-80E0-4E65-82FD-D0BE3D25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66C82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BF590-3E13-4ADC-B4E3-6DCB91F2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04  ·  Aasveer Singh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94ECE-E25D-4C42-91FC-8F23EF1E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WHAT STUDYFORGE OFFERS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3CB7C-B815-4503-A781-6F2F7863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Five useful tools inside one familiar space.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46E13-D3D4-494D-B428-37D804B9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Each feature solves a small study problem without overloading the student.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7BC10-9DDB-4464-875A-CA0DDB3E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095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DB8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EDD41-3399-4B43-AF88-A2BABABB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90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Material library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593C4-1DBD-40FC-BA0F-C838B976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00350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A focused next step for the study routine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7486A-D81A-4114-8CAC-8A7F385D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9925"/>
            <a:ext cx="4095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CE7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0F17F-38F1-499F-A10E-3CF46862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Study chat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25145-71AB-4AC5-8F5C-7EA27C44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43275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A focused next step for the study routine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3DB8E-0E5F-49FD-AE60-2AC1C41F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4095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70221-3E0F-4729-9701-3E746D8B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Flashcards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81B79-20FE-47FA-8C0F-CA0355EF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86200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A focused next step for the study routine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249AEC-E24B-479C-87F2-31CD40D9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95775"/>
            <a:ext cx="4095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DF7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104B34-D22F-41D3-90E6-B314091A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Quizzes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AB67CD-3DAF-404B-B6C5-1B16CFA1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29125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A focused next step for the study routine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2AD1BA-9752-42EF-86DF-D8196E5F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38700"/>
            <a:ext cx="4095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DE6F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A91140-4213-4438-971A-BB059A79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25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Planner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4DDF3-5EEF-4435-BE27-7B34A15A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72050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A focused next step for the study routine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4a3035c5c4ced"/>
          <a:srcRect xmlns:a="http://schemas.openxmlformats.org/drawingml/2006/main" l="0" t="8214" r="0" b="8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2476500"/>
            <a:ext cx="5334000" cy="3095625"/>
          </a:xfrm>
          <a:prstGeom xmlns:a="http://schemas.openxmlformats.org/drawingml/2006/main" prst="roundRect">
            <a:avLst>
              <a:gd name="adj" fmla="val 7385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89D9A0-BC7D-4889-A266-E1E8113D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5334000" cy="3095625"/>
          </a:xfrm>
          <a:prstGeom xmlns:a="http://schemas.openxmlformats.org/drawingml/2006/main" prst="roundRect">
            <a:avLst>
              <a:gd name="adj" fmla="val 738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785539-C88D-4973-9D85-E72A97E3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19700"/>
            <a:ext cx="3238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7629CB-4B28-42D7-AD5D-9445CBAA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625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Built around student momentum</a:t>
            </a:r>
          </a:p>
        </p:txBody>
      </p:sp>
    </p:spTree>
    <p:extLst>
      <p:ext uri="{BB962C8B-B14F-4D97-AF65-F5344CB8AC3E}">
        <p14:creationId xmlns:p14="http://schemas.microsoft.com/office/powerpoint/2010/main" val="11155652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2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FAC75D-DDF8-40A5-8952-54C09F03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A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9BB92-66F6-442C-BD92-D3455F9A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6739B-FB49-4B75-8B4E-554C0007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5C5AC-7BFD-46B1-8EE5-96C94414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05  ·  Akshita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CD941-E23E-4982-8E2D-DB537757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DB8FF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0D50A-8310-4486-9548-E56E965D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simple architecture keeps the experience responsive and controlled.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FACC4-CE78-4A55-90AF-3CE43B07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FD5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D5E9"/>
                </a:solidFill>
                <a:latin typeface="Arial"/>
                <a:ea typeface="Arial"/>
                <a:cs typeface="Arial"/>
              </a:rPr>
              <a:t>The backend owns data and AI requests. The frontend focuses on clear interactions.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ED3ED-6EDB-4434-992C-A10C3CD1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1952625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DB8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8A8E2-AB26-4B1B-BEA8-C04C10CC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1524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AF9D8-B7DB-48B8-A004-C3889E35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React / Next.js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82B97-1D50-4255-B7D8-CE069AAA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2900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696A4-D08A-4861-8CA3-DF805EDB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990850"/>
            <a:ext cx="1952625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BCE7D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3366E-C87E-4CF6-89BF-51C961DA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200400"/>
            <a:ext cx="1524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D14C3-5DED-470E-9A8E-F4F811A9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524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FastAPI routes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59A709-0067-46AD-AD86-0D4DB8E3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E82F35-347B-482B-99B7-DA20ADF7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90850"/>
            <a:ext cx="1952625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73FC65-F9BF-4E72-B877-DF5D07E8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00400"/>
            <a:ext cx="1524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FE8D00-3DA8-4A0F-B75F-CD60FF0A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24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SQLite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5F39BB-C2F9-4CEC-A557-5ED6F1C3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2900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309ABF-C135-4603-A290-1A6AC9F7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990850"/>
            <a:ext cx="1952625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DF7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9E4226-1FA6-4F1D-AF3B-C72B5A70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200400"/>
            <a:ext cx="1524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STUDY 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8EB88F-8B55-4F5B-81F7-E36A0156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24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PDF + retrieval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74C5CB-6DFF-4134-94F3-9A95410B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Browser  →  Backend  →  Storage and study intelligence</a:t>
            </a:r>
          </a:p>
        </p:txBody>
      </p:sp>
    </p:spTree>
    <p:extLst>
      <p:ext uri="{BB962C8B-B14F-4D97-AF65-F5344CB8AC3E}">
        <p14:creationId xmlns:p14="http://schemas.microsoft.com/office/powerpoint/2010/main" val="14678152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909DB4-E7CE-4B1F-9E27-E73BD42C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69A39-3609-48DF-8CB1-8428477D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66C82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D2490-9FB3-47BE-BCCF-ACB2416F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06  ·  Akshita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5A75E-0008-49B4-AAD4-9FD0731C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BACKEND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B6FF3-51DF-4383-85DF-AA9C31C6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A request becomes a useful study result through clear steps.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E8C7E-01B2-4FA2-AF58-3FFA3E03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FastAPI exposes the routes. SQLite persists the study experience.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6ebd6f9a7484c"/>
          <a:srcRect xmlns:a="http://schemas.openxmlformats.org/drawingml/2006/main" l="10588" t="0" r="105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1562100"/>
            <a:ext cx="3571875" cy="3905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DB283-D47A-498B-B52F-00BD3415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62100"/>
            <a:ext cx="3571875" cy="3905250"/>
          </a:xfrm>
          <a:prstGeom xmlns:a="http://schemas.openxmlformats.org/drawingml/2006/main" prst="roundRect">
            <a:avLst>
              <a:gd name="adj" fmla="val 64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95812-E4C3-4B1D-8ECD-DB5288B9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71B91-A1B1-4F69-81A6-15A8DC2E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4765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172B"/>
                </a:solidFill>
                <a:latin typeface="Arial"/>
                <a:ea typeface="Arial"/>
                <a:cs typeface="Arial"/>
              </a:rPr>
              <a:t>Accounts and protected personal actions.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70551-450E-40E0-B8F1-8DEB89B8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47975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F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66B1B-81A9-4597-BC2A-54CE714A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Material processing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EFED4-A18C-49B2-B975-8EFCA7C2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09562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172B"/>
                </a:solidFill>
                <a:latin typeface="Arial"/>
                <a:ea typeface="Arial"/>
                <a:cs typeface="Arial"/>
              </a:rPr>
              <a:t>PDF text becomes smaller searchable chunks.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F528A-B2E9-4D57-A015-48E51BA8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671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F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E1F1F4-C498-484E-A1A9-C622E7C1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Study generation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DAD3A2-7BA6-4D1E-8B2B-20761DCC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7147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172B"/>
                </a:solidFill>
                <a:latin typeface="Arial"/>
                <a:ea typeface="Arial"/>
                <a:cs typeface="Arial"/>
              </a:rPr>
              <a:t>Chat, flashcards and quiz requests reach the study service.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9EB55B-F0DC-43E3-BACE-331D7C77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86225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F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92D482-3C36-4028-B3F5-ABA147AB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Persistence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108658-985C-47CF-9FB3-DB7A71C5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3338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172B"/>
                </a:solidFill>
                <a:latin typeface="Arial"/>
                <a:ea typeface="Arial"/>
                <a:cs typeface="Arial"/>
              </a:rPr>
              <a:t>Profiles, tasks and active context are saved locally.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9B2870-DF9E-4819-B38B-51B03CEF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053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FD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838636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2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B848D7-ECF5-4554-B4CB-82736C99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A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8C9A7-79C6-49ED-9FB5-D802D180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379D7-6405-482E-B58D-9E341B39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F2982-4645-424C-99BC-9F038954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07  ·  Akshita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A9A70-DC90-4E83-98DD-853CFF6F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DB8FF"/>
                </a:solidFill>
                <a:latin typeface="Arial"/>
                <a:ea typeface="Arial"/>
                <a:cs typeface="Arial"/>
              </a:rPr>
              <a:t>GROUNDED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D4FE1-F251-4564-A190-8754EF0E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Study answers start with the student’s chosen material.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A6B72-4AF2-4F6C-944C-0B2C7FFC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FD5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D5E9"/>
                </a:solidFill>
                <a:latin typeface="Arial"/>
                <a:ea typeface="Arial"/>
                <a:cs typeface="Arial"/>
              </a:rPr>
              <a:t>Retrieval finds relevant chunks before a response or practice item is generated.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D6B39-DC58-49CE-A551-A403935A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23622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4BA26-3C1D-48A7-B3F1-D84F1B0B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8AB3E-5B6A-4CCA-BFCD-18BD2B5D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UPLOAD 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52466-AEEB-4D6D-8DFD-CA5A5D99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14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2D9E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2D9ED"/>
                </a:solidFill>
                <a:latin typeface="Arial"/>
                <a:ea typeface="Arial"/>
                <a:cs typeface="Arial"/>
              </a:rPr>
              <a:t>Read the document 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2B042-ED5E-4F1C-A51E-8F4F0DDF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09900"/>
            <a:ext cx="23622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AF761B-8800-426E-B5FA-A575C970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908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18E08-9BDE-4FC6-B63F-1D59E8B4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62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CHUNK CONTENT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09FFD-9BCC-4145-AB2C-8F43F190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14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2D9E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2D9ED"/>
                </a:solidFill>
                <a:latin typeface="Arial"/>
                <a:ea typeface="Arial"/>
                <a:cs typeface="Arial"/>
              </a:rPr>
              <a:t>Split it into searchable pieces.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26273-A574-4438-88B3-F3610F7F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9900"/>
            <a:ext cx="23622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80653-789E-40E9-8849-FBFF67CA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362ECB-126D-4F4A-8CF5-D27B9AAE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62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F983A1-86F0-4AF6-94C5-A9869953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14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2D9E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2D9ED"/>
                </a:solidFill>
                <a:latin typeface="Arial"/>
                <a:ea typeface="Arial"/>
                <a:cs typeface="Arial"/>
              </a:rPr>
              <a:t>Retrieve material related to the question.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5EBA00-5577-4434-A401-7F1E4EB3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9900"/>
            <a:ext cx="23622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6CCBB6-4833-4366-B64A-1B7B4EE3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908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3E484D-1A62-4E84-B4C4-F0714610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62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0F9468-0329-4190-8763-63D1418A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14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2D9E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2D9ED"/>
                </a:solidFill>
                <a:latin typeface="Arial"/>
                <a:ea typeface="Arial"/>
                <a:cs typeface="Arial"/>
              </a:rPr>
              <a:t>Generate a helpful answer or practice item.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9DC80D-6ECC-4CCB-BBC5-A218589D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305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project answers using the learner’s selected study source, not only a generic prompt.</a:t>
            </a:r>
          </a:p>
        </p:txBody>
      </p:sp>
    </p:spTree>
    <p:extLst>
      <p:ext uri="{BB962C8B-B14F-4D97-AF65-F5344CB8AC3E}">
        <p14:creationId xmlns:p14="http://schemas.microsoft.com/office/powerpoint/2010/main" val="17650071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2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49C344-BF79-4665-B42D-6CBA7DEE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A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A36B1-9C9C-4BF9-BEA6-A9A7FC11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772DD-DF57-4E5B-ACDC-2C5399A0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A27E1-142A-4C6C-8405-D5A52E02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08  ·  Manik Jasrotia — 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71883-9352-493F-A2BE-C65FE737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DB8FF"/>
                </a:solidFill>
                <a:latin typeface="Arial"/>
                <a:ea typeface="Arial"/>
                <a:cs typeface="Arial"/>
              </a:rPr>
              <a:t>FRONTEND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D3297-8EDB-4846-9026-13A9D15A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interface makes each study task feel clear and inviting.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D03A3-C0C0-4DB2-A26B-61F5E9D9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FD5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D5E9"/>
                </a:solidFill>
                <a:latin typeface="Arial"/>
                <a:ea typeface="Arial"/>
                <a:cs typeface="Arial"/>
              </a:rPr>
              <a:t>Frontend section presented by Manik Jasrotia.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31af4598e4d94"/>
          <a:srcRect xmlns:a="http://schemas.openxmlformats.org/drawingml/2006/main" l="7542" t="0" r="75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666875"/>
            <a:ext cx="4495800" cy="3676650"/>
          </a:xfrm>
          <a:prstGeom xmlns:a="http://schemas.openxmlformats.org/drawingml/2006/main" prst="roundRect">
            <a:avLst>
              <a:gd name="adj" fmla="val 621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6D3D5-FFC3-435E-A89A-EEEA364F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66875"/>
            <a:ext cx="4495800" cy="3676650"/>
          </a:xfrm>
          <a:prstGeom xmlns:a="http://schemas.openxmlformats.org/drawingml/2006/main" prst="roundRect">
            <a:avLst>
              <a:gd name="adj" fmla="val 621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9A98AD-B98C-48E3-96C0-17DE3407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5191125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D73650-C06D-4A98-8F70-5D2C4E32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React + Next.js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DA969-2538-4E1D-873B-2CDC5A01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Clear page 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EA4B1-D095-4C89-A194-955C2D95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2D9E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2D9ED"/>
                </a:solidFill>
                <a:latin typeface="Arial"/>
                <a:ea typeface="Arial"/>
                <a:cs typeface="Arial"/>
              </a:rPr>
              <a:t>Dashboard, library, chat, quizzes, planner and profile all use reusable components.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15448-B9DC-4986-AD25-51A4A0A0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CE7D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CE7D1"/>
                </a:solidFill>
                <a:latin typeface="Arial"/>
                <a:ea typeface="Arial"/>
                <a:cs typeface="Arial"/>
              </a:rPr>
              <a:t>Responsive styling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25D166-D729-4A87-AD35-29775AF9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96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2D9E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2D9ED"/>
                </a:solidFill>
                <a:latin typeface="Arial"/>
                <a:ea typeface="Arial"/>
                <a:cs typeface="Arial"/>
              </a:rPr>
              <a:t>Layouts adapt across common desktop and mobile widths.</a:t>
            </a:r>
          </a:p>
        </p:txBody>
      </p:sp>
    </p:spTree>
    <p:extLst>
      <p:ext uri="{BB962C8B-B14F-4D97-AF65-F5344CB8AC3E}">
        <p14:creationId xmlns:p14="http://schemas.microsoft.com/office/powerpoint/2010/main" val="12034957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A5406-EF7C-47DC-B14E-57678CF9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FDE08-4A74-4BE5-BAE2-86CFA92E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66C82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9D4C3-71D1-4A60-98C0-C791A9BF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09  ·  Manik Jasrotia — frontend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0FFD1-2CA0-4965-BF6E-E22A1662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DESIGNED FOR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419C9-7602-4FCE-9162-537E2877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Less visual noise. More confidence about what to do next.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0E62F-02B2-4A4E-ACFC-189ADDED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The UI uses a warm studio look with simple hierarchy and study-focused actions.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7acd453bc4f78"/>
          <a:srcRect xmlns:a="http://schemas.openxmlformats.org/drawingml/2006/main" l="0" t="15298" r="0" b="152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514600"/>
            <a:ext cx="4953000" cy="28575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D7D93-9D22-4683-8E4F-02F19433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4953000" cy="2857500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3cf12246949b1"/>
          <a:srcRect xmlns:a="http://schemas.openxmlformats.org/drawingml/2006/main" l="0" t="22473" r="0" b="224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2514600"/>
            <a:ext cx="4953000" cy="28575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9BBE8-B260-4934-BAB6-81DA1111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14600"/>
            <a:ext cx="4953000" cy="2857500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ED6D5-ED0A-4698-9F47-11F6F9D6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B8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571C3-CF4C-4F4F-9452-3BC56AD5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629275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ORIENT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FFC742-DEF5-4144-9BB4-C370EC3C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543550"/>
            <a:ext cx="21526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7D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BB4AA-596B-4E62-9741-BF09F88C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629275"/>
            <a:ext cx="1714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ASK WITH CONTEXT</a:t>
            </a:r>
          </a:p>
        </p:txBody>
      </p:sp>
    </p:spTree>
    <p:extLst>
      <p:ext uri="{BB962C8B-B14F-4D97-AF65-F5344CB8AC3E}">
        <p14:creationId xmlns:p14="http://schemas.microsoft.com/office/powerpoint/2010/main" val="3602031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B32155-BF4A-42B3-B0F9-DFADD38F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0DD97-ED92-427B-95F4-0430CA63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66C82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229A5-3F1B-46BB-BDE0-620C9E6C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10  ·  Manik Jasrotia — frontend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8B512-E3C3-4062-97B0-40B8A199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PERSONAL, NOT GENERIC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16E11-3950-40F7-8AC3-60060778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Profile settings and a 3D-styled avatar make the space feel owned.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767AB-479C-47D5-BFC3-80D40A25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Frontend section presented by Manik Jasrotia.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9C8A8-6C9E-442C-8ADC-C40D6ECE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43175"/>
            <a:ext cx="533400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9133D-0E49-43B7-9708-2A352D4C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student can personalise their study space with: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1DA5F-E205-46BE-BB29-EA6310E9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333750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AE2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E2F5"/>
                </a:solidFill>
                <a:latin typeface="Arial"/>
                <a:ea typeface="Arial"/>
                <a:cs typeface="Arial"/>
              </a:rPr>
              <a:t>• profile preferences</a:t>
            </a:r>
          </a:p>
          <a:p xmlns:a="http://schemas.openxmlformats.org/drawingml/2006/main">
            <a:pPr>
              <a:defRPr sz="1500" b="0">
                <a:solidFill>
                  <a:srgbClr val="EAE2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E2F5"/>
                </a:solidFill>
                <a:latin typeface="Arial"/>
                <a:ea typeface="Arial"/>
                <a:cs typeface="Arial"/>
              </a:rPr>
              <a:t>• theme selection</a:t>
            </a:r>
          </a:p>
          <a:p xmlns:a="http://schemas.openxmlformats.org/drawingml/2006/main">
            <a:pPr>
              <a:defRPr sz="1500" b="0">
                <a:solidFill>
                  <a:srgbClr val="EAE2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E2F5"/>
                </a:solidFill>
                <a:latin typeface="Arial"/>
                <a:ea typeface="Arial"/>
                <a:cs typeface="Arial"/>
              </a:rPr>
              <a:t>• gender-aware avatar options</a:t>
            </a:r>
          </a:p>
          <a:p xmlns:a="http://schemas.openxmlformats.org/drawingml/2006/main">
            <a:pPr>
              <a:defRPr sz="1500" b="0">
                <a:solidFill>
                  <a:srgbClr val="EAE2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E2F5"/>
                </a:solidFill>
                <a:latin typeface="Arial"/>
                <a:ea typeface="Arial"/>
                <a:cs typeface="Arial"/>
              </a:rPr>
              <a:t>• a 3D-styled custom avatar experience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7a0aa8bfdc45d5"/>
          <a:srcRect xmlns:a="http://schemas.openxmlformats.org/drawingml/2006/main" l="0" t="12771" r="0" b="127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1800" y="1724025"/>
            <a:ext cx="4000500" cy="400050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59674-D348-4877-A890-3B63EEAB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24025"/>
            <a:ext cx="4000500" cy="400050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425869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2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E832EF-CC0E-4E60-BB2D-2F00ECE6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A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FDE5E-C0A0-488F-B6E9-13BAD484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1220D-89C0-4372-AE5E-CF36EDAD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1956C-C215-425C-ABBB-2F673225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11  ·  Aasveer Singh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EB4BB-5801-461D-B598-F5BFB1A1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DB8FF"/>
                </a:solidFill>
                <a:latin typeface="Arial"/>
                <a:ea typeface="Arial"/>
                <a:cs typeface="Arial"/>
              </a:rPr>
              <a:t>PRACTICE THAT HELPS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7485C-8931-49AD-84F5-9E7BD795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 should cover different ideas, not repeat the same 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8795A-AE7B-461E-BE45-6B5ACEF2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FD5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D5E9"/>
                </a:solidFill>
                <a:latin typeface="Arial"/>
                <a:ea typeface="Arial"/>
                <a:cs typeface="Arial"/>
              </a:rPr>
              <a:t>The quiz and flashcard flow is designed for variety and a reliable fallback.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28523-3398-44C7-8E79-9DFBDE78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CDB8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3D016-0255-4835-B11D-4698BDC1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EFA481-9187-4673-B3C6-7084C72A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Broader 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273E8-066D-4CBA-BBFF-E0BA3CD9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1962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Prompts request several distinct concepts.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3F0CDD-F272-4692-8C98-0FDD076E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05125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BCE7D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60E036-F6F4-4BB7-9000-C5948ADF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765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8F07A9-B9D4-4EA4-A15F-934E016A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909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Duplicate filter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25FECC-22C4-465D-9850-3880209E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57625"/>
            <a:ext cx="1962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Similarity checks remove near-repeat questions.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CD9F28-3FFE-40CF-8F07-85D9B944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05125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01C5F3-CDFA-4609-9C1D-E5BDE8A5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765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4BF76-A5C5-4BEB-879A-CCFC489A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909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Topic labels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01F1C-9A32-48B9-B4EF-1A82B3DD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57625"/>
            <a:ext cx="1962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Focus labels show what each item tests.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d821b9ccc43ed"/>
          <a:srcRect xmlns:a="http://schemas.openxmlformats.org/drawingml/2006/main" l="20217" t="0" r="202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0" y="2228850"/>
            <a:ext cx="2238375" cy="3238500"/>
          </a:xfrm>
          <a:prstGeom xmlns:a="http://schemas.openxmlformats.org/drawingml/2006/main" prst="roundRect">
            <a:avLst>
              <a:gd name="adj" fmla="val 10213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1F7BFA-637A-47C0-B009-740FBDEC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28850"/>
            <a:ext cx="2238375" cy="3238500"/>
          </a:xfrm>
          <a:prstGeom xmlns:a="http://schemas.openxmlformats.org/drawingml/2006/main" prst="roundRect">
            <a:avLst>
              <a:gd name="adj" fmla="val 102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1A558E-B42A-428E-B2F1-4539205C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43525"/>
            <a:ext cx="733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If an external AI provider is busy, a local quiz is built from saved material chunks.</a:t>
            </a:r>
          </a:p>
        </p:txBody>
      </p:sp>
    </p:spTree>
    <p:extLst>
      <p:ext uri="{BB962C8B-B14F-4D97-AF65-F5344CB8AC3E}">
        <p14:creationId xmlns:p14="http://schemas.microsoft.com/office/powerpoint/2010/main" val="15380474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DD392A-5715-4E99-8CFD-64C55055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052DA-EB90-4BB1-AFE3-7165FEC3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66C82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2D416-BB6A-458A-94C2-D9B2134D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12  ·  Aasveer Singh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CB3C9-5D6D-4B40-90FE-46672A4B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VALIDATED END TO 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59DBA-CF26-4FCD-94E3-1560DB9A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The project was checked from backend behaviour to the running frontend.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DDF79-72B1-41A0-9396-16F60054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The aim was to verify useful outcomes, not only show code.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D972F-8731-4D6B-A3EB-DFFD4E7F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BCE7D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7B6AA-54BE-45B1-BED1-8186D02A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81350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D90F7-D178-424C-B7F0-9BEED1E4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905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targeted backend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7D3BD-5267-44B5-B7D4-1468834D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52750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CDB8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94813-1BB8-49EE-9B7F-D2E2269D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81350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6206F-9450-4F3F-9666-C52F38CA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05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direct fallback questions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77B47D-1914-4DB2-889D-524ED574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52750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E76AC9-9CA7-48D8-8F2C-F93F976B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181350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9DCF1-6279-4783-903D-12913F6E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905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presentation slides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2BCB3E-53B4-45FD-8763-7D8E29E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52750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5DF7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38E59-4885-407A-A7DC-440AF606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81350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5265A7-8426-429D-8550-F1E14F6C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05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running local services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87837E-1008-49E3-AA34-CF6F744E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Backend reliability tests · local quiz fallback · frontend production build · browser review</a:t>
            </a:r>
          </a:p>
        </p:txBody>
      </p:sp>
    </p:spTree>
    <p:extLst>
      <p:ext uri="{BB962C8B-B14F-4D97-AF65-F5344CB8AC3E}">
        <p14:creationId xmlns:p14="http://schemas.microsoft.com/office/powerpoint/2010/main" val="19935379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12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E6831B-CC8F-41B5-8A64-5BCC4205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A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D23E7-1F25-4DF2-9545-3C9BA8F2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25E11-BE60-4BF0-86DD-DE13B4A5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B584C-533C-428E-90EB-6439BF99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13  ·  Aasveer Singh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02F53-57C8-4642-A31B-FDC79440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DB8FF"/>
                </a:solidFill>
                <a:latin typeface="Arial"/>
                <a:ea typeface="Arial"/>
                <a:cs typeface="Arial"/>
              </a:rPr>
              <a:t>NEXT ITERATION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D6064-087B-4A21-9710-2E1BA574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strong foundation leaves room for a smarter study companion.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44E95-06A6-41D9-97D5-95186195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FD5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D5E9"/>
                </a:solidFill>
                <a:latin typeface="Arial"/>
                <a:ea typeface="Arial"/>
                <a:cs typeface="Arial"/>
              </a:rPr>
              <a:t>Future additions can deepen the same student workflow rather than change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6300A-1236-4705-A1DE-6D517DDC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6572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95518-00D9-4326-A2C6-E507F3F9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Feedback loop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4B526-3165-4F18-AEC2-2978B4A3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Let students rate cards and quizzes.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F91FBA-8150-4923-9EB2-32C6A863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90925"/>
            <a:ext cx="6572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10F34-5198-436D-8569-342609EB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623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Learning analytics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F5D15D-C758-4CB2-BCCC-0A310290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8142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Show weak topics and revision history.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F9BCB4-4B0F-45E0-8E69-383B1052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6572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DF243-73BC-4629-A561-65F6BAA6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5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More formats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39E075-2346-4E0C-9FEB-F515062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 notes, images and subject templates.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14bb28b83418c"/>
          <a:srcRect xmlns:a="http://schemas.openxmlformats.org/drawingml/2006/main" l="7562" t="0" r="75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2381250"/>
            <a:ext cx="3143250" cy="2571750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C46DB-60A2-4647-BA28-4F414392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143250" cy="2571750"/>
          </a:xfrm>
          <a:prstGeom xmlns:a="http://schemas.openxmlformats.org/drawingml/2006/main" prst="roundRect">
            <a:avLst>
              <a:gd name="adj" fmla="val 888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724904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2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A14FF-08FE-4EBF-94E9-A51A9391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A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570CF-DD98-4731-B19D-63AC734A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2CD44-5F8B-4779-9754-099C5B0E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8242E-BC6B-40C8-BD5A-CCA96168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14  ·  Shared demo and Q&amp;A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722B5-4C8E-43C0-9A1C-89FB239C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155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CC427-094D-41B9-93B8-D76901E3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62075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See the study loop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F02A5-A35B-4FA8-936F-6D9797CA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3D9E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3D9EE"/>
                </a:solidFill>
                <a:latin typeface="Arial"/>
                <a:ea typeface="Arial"/>
                <a:cs typeface="Arial"/>
              </a:rPr>
              <a:t>Sign in  →  Select material  →  Ask a question  →  Generate a quiz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1A9DC-50BD-4F41-969E-7F183493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69913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81548-2B7D-4E10-9C84-FA21CE35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 and discussion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BFC76-B0E4-4514-B763-ED64B47E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3D9E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3D9EE"/>
                </a:solidFill>
                <a:latin typeface="Arial"/>
                <a:ea typeface="Arial"/>
                <a:cs typeface="Arial"/>
              </a:rPr>
              <a:t>Thank you for your time.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7DF21-2179-44C0-BD89-B71F10F3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Akshita  ·  Aasveer Singh  ·  Manik Jasrotia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116336-D0F2-4630-BF73-F0F88BD2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StudyForge AI</a:t>
            </a:r>
          </a:p>
        </p:txBody>
      </p:sp>
    </p:spTree>
    <p:extLst>
      <p:ext uri="{BB962C8B-B14F-4D97-AF65-F5344CB8AC3E}">
        <p14:creationId xmlns:p14="http://schemas.microsoft.com/office/powerpoint/2010/main" val="8197123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2026-10-05T14:44:36.3420000Z</dcterms:created>
  <dcterms:modified xsi:type="dcterms:W3CDTF">2026-10-05T14:44:36.3420000Z</dcterms:modified>
</coreProperties>
</file>