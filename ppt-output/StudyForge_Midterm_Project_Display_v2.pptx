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f90a32994042b7" /><Relationship Type="http://schemas.openxmlformats.org/officeDocument/2006/relationships/extended-properties" Target="/docProps/app.xml" Id="R018c684cdb4f46ee" /><Relationship Type="http://schemas.openxmlformats.org/officeDocument/2006/relationships/officeDocument" Target="/ppt/presentation.xml" Id="R9da25a19844244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6a7e664e994395"/>
  </p:sldMasterIdLst>
  <p:notesMasterIdLst>
    <p:notesMasterId xmlns:r="http://schemas.openxmlformats.org/officeDocument/2006/relationships" r:id="Rbf599dd38b794e23"/>
  </p:notesMasterIdLst>
  <p:sldIdLst>
    <p:sldId xmlns:r="http://schemas.openxmlformats.org/officeDocument/2006/relationships" id="256" r:id="Rce487c3001df4087"/>
    <p:sldId xmlns:r="http://schemas.openxmlformats.org/officeDocument/2006/relationships" id="257" r:id="R0342e8a2887a4872"/>
    <p:sldId xmlns:r="http://schemas.openxmlformats.org/officeDocument/2006/relationships" id="258" r:id="R4ed3498cb54641a9"/>
    <p:sldId xmlns:r="http://schemas.openxmlformats.org/officeDocument/2006/relationships" id="259" r:id="Rf48017946a2c4afa"/>
    <p:sldId xmlns:r="http://schemas.openxmlformats.org/officeDocument/2006/relationships" id="260" r:id="Ra5a3465c6d9d4d7f"/>
    <p:sldId xmlns:r="http://schemas.openxmlformats.org/officeDocument/2006/relationships" id="261" r:id="Rfb980bd2de9649e6"/>
    <p:sldId xmlns:r="http://schemas.openxmlformats.org/officeDocument/2006/relationships" id="262" r:id="R1bb833ee6bcf4e5f"/>
    <p:sldId xmlns:r="http://schemas.openxmlformats.org/officeDocument/2006/relationships" id="263" r:id="Reb7ffbf8d399442a"/>
    <p:sldId xmlns:r="http://schemas.openxmlformats.org/officeDocument/2006/relationships" id="264" r:id="Rb7176cb035f64820"/>
    <p:sldId xmlns:r="http://schemas.openxmlformats.org/officeDocument/2006/relationships" id="265" r:id="R6604da983f9449bf"/>
    <p:sldId xmlns:r="http://schemas.openxmlformats.org/officeDocument/2006/relationships" id="266" r:id="Rbc604769ac244dcd"/>
    <p:sldId xmlns:r="http://schemas.openxmlformats.org/officeDocument/2006/relationships" id="267" r:id="R6c20a87a568a4b69"/>
    <p:sldId xmlns:r="http://schemas.openxmlformats.org/officeDocument/2006/relationships" id="268" r:id="Rf06edf2773994ae4"/>
    <p:sldId xmlns:r="http://schemas.openxmlformats.org/officeDocument/2006/relationships" id="269" r:id="Rfb80e34262e34d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052165b974598" /><Relationship Type="http://schemas.openxmlformats.org/officeDocument/2006/relationships/slideMaster" Target="/ppt/slideMasters/slideMaster1.xml" Id="R6d6a7e664e994395" /><Relationship Type="http://schemas.openxmlformats.org/officeDocument/2006/relationships/notesMaster" Target="/ppt/notesMasters/notesMaster1.xml" Id="Rbf599dd38b794e23" /><Relationship Type="http://schemas.openxmlformats.org/officeDocument/2006/relationships/presProps" Target="/ppt/presProps.xml" Id="Ra3ed71cae17e4fe9" /><Relationship Type="http://schemas.openxmlformats.org/officeDocument/2006/relationships/tableStyles" Target="/ppt/tableStyles.xml" Id="Rc60477b684a44b47" /><Relationship Type="http://schemas.openxmlformats.org/officeDocument/2006/relationships/slide" Target="/ppt/slides/slide1.xml" Id="Rce487c3001df4087" /><Relationship Type="http://schemas.openxmlformats.org/officeDocument/2006/relationships/slide" Target="/ppt/slides/slide2.xml" Id="R0342e8a2887a4872" /><Relationship Type="http://schemas.openxmlformats.org/officeDocument/2006/relationships/slide" Target="/ppt/slides/slide3.xml" Id="R4ed3498cb54641a9" /><Relationship Type="http://schemas.openxmlformats.org/officeDocument/2006/relationships/slide" Target="/ppt/slides/slide4.xml" Id="Rf48017946a2c4afa" /><Relationship Type="http://schemas.openxmlformats.org/officeDocument/2006/relationships/slide" Target="/ppt/slides/slide5.xml" Id="Ra5a3465c6d9d4d7f" /><Relationship Type="http://schemas.openxmlformats.org/officeDocument/2006/relationships/slide" Target="/ppt/slides/slide6.xml" Id="Rfb980bd2de9649e6" /><Relationship Type="http://schemas.openxmlformats.org/officeDocument/2006/relationships/slide" Target="/ppt/slides/slide7.xml" Id="R1bb833ee6bcf4e5f" /><Relationship Type="http://schemas.openxmlformats.org/officeDocument/2006/relationships/slide" Target="/ppt/slides/slide8.xml" Id="Reb7ffbf8d399442a" /><Relationship Type="http://schemas.openxmlformats.org/officeDocument/2006/relationships/slide" Target="/ppt/slides/slide9.xml" Id="Rb7176cb035f64820" /><Relationship Type="http://schemas.openxmlformats.org/officeDocument/2006/relationships/slide" Target="/ppt/slides/slide10.xml" Id="R6604da983f9449bf" /><Relationship Type="http://schemas.openxmlformats.org/officeDocument/2006/relationships/slide" Target="/ppt/slides/slide11.xml" Id="Rbc604769ac244dcd" /><Relationship Type="http://schemas.openxmlformats.org/officeDocument/2006/relationships/slide" Target="/ppt/slides/slide12.xml" Id="R6c20a87a568a4b69" /><Relationship Type="http://schemas.openxmlformats.org/officeDocument/2006/relationships/slide" Target="/ppt/slides/slide13.xml" Id="Rf06edf2773994ae4" /><Relationship Type="http://schemas.openxmlformats.org/officeDocument/2006/relationships/slide" Target="/ppt/slides/slide14.xml" Id="Rfb80e34262e34d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87a16ef0d246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7ebf66a1374676" /><Relationship Type="http://schemas.openxmlformats.org/officeDocument/2006/relationships/notesMaster" Target="/ppt/notesMasters/notesMaster1.xml" Id="R7f6d183cbb7146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e34140ba19437f" /><Relationship Type="http://schemas.openxmlformats.org/officeDocument/2006/relationships/notesMaster" Target="/ppt/notesMasters/notesMaster1.xml" Id="Re30a0f1d669d42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941d592e0a4dde" /><Relationship Type="http://schemas.openxmlformats.org/officeDocument/2006/relationships/notesMaster" Target="/ppt/notesMasters/notesMaster1.xml" Id="R596e924b349b46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1bc440d500493e" /><Relationship Type="http://schemas.openxmlformats.org/officeDocument/2006/relationships/notesMaster" Target="/ppt/notesMasters/notesMaster1.xml" Id="Rf544faeeffa94f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ed37bc82f74f5d" /><Relationship Type="http://schemas.openxmlformats.org/officeDocument/2006/relationships/notesMaster" Target="/ppt/notesMasters/notesMaster1.xml" Id="Rb6427a0c98604c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30eb32e66b4007" /><Relationship Type="http://schemas.openxmlformats.org/officeDocument/2006/relationships/notesMaster" Target="/ppt/notesMasters/notesMaster1.xml" Id="Rfa31f1056a3348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7fad9d053c4615" /><Relationship Type="http://schemas.openxmlformats.org/officeDocument/2006/relationships/notesMaster" Target="/ppt/notesMasters/notesMaster1.xml" Id="R48a0d7e315d2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6c487f5141434d" /><Relationship Type="http://schemas.openxmlformats.org/officeDocument/2006/relationships/notesMaster" Target="/ppt/notesMasters/notesMaster1.xml" Id="R7b3fcb8d5c3c4c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0657c45bd44b19" /><Relationship Type="http://schemas.openxmlformats.org/officeDocument/2006/relationships/notesMaster" Target="/ppt/notesMasters/notesMaster1.xml" Id="R39484b6130fe44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e15aede0eb4d66" /><Relationship Type="http://schemas.openxmlformats.org/officeDocument/2006/relationships/notesMaster" Target="/ppt/notesMasters/notesMaster1.xml" Id="R6d59a509a29e49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28e231d36b4e6d" /><Relationship Type="http://schemas.openxmlformats.org/officeDocument/2006/relationships/notesMaster" Target="/ppt/notesMasters/notesMaster1.xml" Id="R36343139808649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ef53d9708f482f" /><Relationship Type="http://schemas.openxmlformats.org/officeDocument/2006/relationships/notesMaster" Target="/ppt/notesMasters/notesMaster1.xml" Id="Rae1fb1dca9b64a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aa4ac981d943d7" /><Relationship Type="http://schemas.openxmlformats.org/officeDocument/2006/relationships/notesMaster" Target="/ppt/notesMasters/notesMaster1.xml" Id="R0339f78d59bd42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351e24d82e4e6a" /><Relationship Type="http://schemas.openxmlformats.org/officeDocument/2006/relationships/notesMaster" Target="/ppt/notesMasters/notesMaster1.xml" Id="R5cbdae5e1fc148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Open by introducing the project name and each team member. State that Manik will present the frontend-only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student problem before discussing technology. Use the screenshot only as evidence of the learning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Define the four-part value of the project and connect it to the upcoming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Give a short tour of the project capabilities. This is the bridge between problem and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Walk left to right. Explain that the backend acts as the controlled middle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everyday language: API endpoints are backend doors that accept a request and return a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retrieval augmented generation without jargon: first find the relevant notes, then formulate the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Manik can explain frontend as the visible layer that turns backend data into usable interactions.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Point to the two real product screens. Describe hierarchy: orient first, then let the student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Clarify that this is 3D-styled visual treatment in the interface, built for a friendly, interactive feeling.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Emphasise reliability. The fallback lets students keep practising instead of only seeing an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Describe validation honestly: automated backend checks, build verification and browser-visible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End the technical story by showing that the roadmap extends the current product rather than changing its core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Invite the faculty to see the login, selected material, study chat and generated quiz. Share the presentation naturally between all members.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3a23b26a549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61e2aed13249a8" /><Relationship Type="http://schemas.openxmlformats.org/officeDocument/2006/relationships/slideLayout" Target="/ppt/slideLayouts/slideLayout1.xml" Id="R56b49a811bb544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49a811bb544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af47d12974fa2" /><Relationship Type="http://schemas.openxmlformats.org/officeDocument/2006/relationships/image" Target="/ppt/media/image.png" Id="R43691c80bac54800" /><Relationship Type="http://schemas.openxmlformats.org/officeDocument/2006/relationships/notesSlide" Target="/ppt/notesSlides/notesSlide1.xml" Id="Rcd5a4eb24d8442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207c9903243cc" /><Relationship Type="http://schemas.openxmlformats.org/officeDocument/2006/relationships/image" Target="/ppt/media/image2.png" Id="R81b461567c9d4c10" /><Relationship Type="http://schemas.openxmlformats.org/officeDocument/2006/relationships/notesSlide" Target="/ppt/notesSlides/notesSlide2.xml" Id="Rf7348be4bac2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7b49e30914863" /><Relationship Type="http://schemas.openxmlformats.org/officeDocument/2006/relationships/notesSlide" Target="/ppt/notesSlides/notesSlide3.xml" Id="Rbc7563b31b50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00c11802b4006" /><Relationship Type="http://schemas.openxmlformats.org/officeDocument/2006/relationships/image" Target="/ppt/media/image3.png" Id="Ra82b2c9c32fd49ee" /><Relationship Type="http://schemas.openxmlformats.org/officeDocument/2006/relationships/notesSlide" Target="/ppt/notesSlides/notesSlide4.xml" Id="Re273be17dd2047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8973117ad4560" /><Relationship Type="http://schemas.openxmlformats.org/officeDocument/2006/relationships/notesSlide" Target="/ppt/notesSlides/notesSlide5.xml" Id="Rc91d073a322a4d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b0f508e36409c" /><Relationship Type="http://schemas.openxmlformats.org/officeDocument/2006/relationships/image" Target="/ppt/media/image4.png" Id="R2cce2489859e46fa" /><Relationship Type="http://schemas.openxmlformats.org/officeDocument/2006/relationships/notesSlide" Target="/ppt/notesSlides/notesSlide6.xml" Id="R2313dd9a1a524c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48eb2ce914b5b" /><Relationship Type="http://schemas.openxmlformats.org/officeDocument/2006/relationships/notesSlide" Target="/ppt/notesSlides/notesSlide7.xml" Id="R88d3d9a5bed84d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d012d7204441a" /><Relationship Type="http://schemas.openxmlformats.org/officeDocument/2006/relationships/image" Target="/ppt/media/image5.png" Id="Rc7faf09f667b4296" /><Relationship Type="http://schemas.openxmlformats.org/officeDocument/2006/relationships/notesSlide" Target="/ppt/notesSlides/notesSlide8.xml" Id="R48b681cd95a54a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f4fdd371c4c9a" /><Relationship Type="http://schemas.openxmlformats.org/officeDocument/2006/relationships/image" Target="/ppt/media/image6.png" Id="Rbcf85e1517414e54" /><Relationship Type="http://schemas.openxmlformats.org/officeDocument/2006/relationships/image" Target="/ppt/media/image7.png" Id="Rf8d89920ee124b65" /><Relationship Type="http://schemas.openxmlformats.org/officeDocument/2006/relationships/notesSlide" Target="/ppt/notesSlides/notesSlide9.xml" Id="R8fc2ce97314b42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caaf9dd6a4b01" /><Relationship Type="http://schemas.openxmlformats.org/officeDocument/2006/relationships/image" Target="/ppt/media/image8.png" Id="Ra2c504ebdd554529" /><Relationship Type="http://schemas.openxmlformats.org/officeDocument/2006/relationships/notesSlide" Target="/ppt/notesSlides/notesSlide10.xml" Id="R560597288c1a47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e4020d612490a" /><Relationship Type="http://schemas.openxmlformats.org/officeDocument/2006/relationships/image" Target="/ppt/media/image9.png" Id="R5929e92065a34ebc" /><Relationship Type="http://schemas.openxmlformats.org/officeDocument/2006/relationships/notesSlide" Target="/ppt/notesSlides/notesSlide11.xml" Id="R7bf2a17288e747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765dda76647c2" /><Relationship Type="http://schemas.openxmlformats.org/officeDocument/2006/relationships/notesSlide" Target="/ppt/notesSlides/notesSlide12.xml" Id="R74f7e33637aa43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5abc3bf9d421a" /><Relationship Type="http://schemas.openxmlformats.org/officeDocument/2006/relationships/image" Target="/ppt/media/image10.png" Id="R5e7a35b62d254ea7" /><Relationship Type="http://schemas.openxmlformats.org/officeDocument/2006/relationships/notesSlide" Target="/ppt/notesSlides/notesSlide13.xml" Id="Rdc6cc42df1fc42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1ffe150974083" /><Relationship Type="http://schemas.openxmlformats.org/officeDocument/2006/relationships/notesSlide" Target="/ppt/notesSlides/notesSlide14.xml" Id="R70c3a53c3e8541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531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BBBCD-666F-46B9-96D9-BE20C83D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-13525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0F64B-6E3C-40E7-9886-D21EF1EE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619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ED6BF-A6A4-439F-BC77-6F9EA73B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2266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A7E61-80DC-417F-9668-6E97F2BD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MID-TERM PROJECT DISPLAY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0A7DD-AB15-420B-A066-441C19C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647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StudyForge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07791-76EE-4AB5-B0BA-FECB6886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E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EFFF"/>
                </a:solidFill>
                <a:latin typeface="Arial"/>
                <a:ea typeface="Arial"/>
                <a:cs typeface="Arial"/>
              </a:rPr>
              <a:t>A focused study companion that turns learning material into organised practice.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91c80bac54800"/>
          <a:srcRect xmlns:a="http://schemas.openxmlformats.org/drawingml/2006/main" l="0" t="10338" r="0" b="10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1952625"/>
            <a:ext cx="4362450" cy="2876550"/>
          </a:xfrm>
          <a:prstGeom xmlns:a="http://schemas.openxmlformats.org/drawingml/2006/main" prst="roundRect">
            <a:avLst>
              <a:gd name="adj" fmla="val 529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7557E-0273-4B06-AEB8-E1EDD0BD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4362450" cy="2876550"/>
          </a:xfrm>
          <a:prstGeom xmlns:a="http://schemas.openxmlformats.org/drawingml/2006/main" prst="roundRect">
            <a:avLst>
              <a:gd name="adj" fmla="val 52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DD033-BA16-4488-82AE-0A8B744A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74FDD-61C7-4E29-A935-5E65BA4C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8DD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8DDF4"/>
                </a:solidFill>
                <a:latin typeface="Arial"/>
                <a:ea typeface="Arial"/>
                <a:cs typeface="Arial"/>
              </a:rPr>
              <a:t>B.Tech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8344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0F580-D8FE-497B-9755-A76D74F5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FE854-FB4C-4292-9683-55F5C6B9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44EF5-1895-48C9-AAD4-F7CE1CB1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12F74-17D7-4A14-9EA2-6922CD1E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02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05FDD-76DD-4AC1-8509-58AFA3FE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4A60D-64E7-4036-B8EE-91A79461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Students need one calm place to learn, practice and 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E3762-0F07-45B6-89D3-B077CD78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 material is commonly scattered across PDFs, notes, search tabs and separate quiz tools.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461567c9d4c10"/>
          <a:srcRect xmlns:a="http://schemas.openxmlformats.org/drawingml/2006/main" l="0" t="5020" r="0" b="5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914400"/>
            <a:ext cx="4191000" cy="42100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31216-8D5A-444A-A8AE-04578B30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4191000" cy="421005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71C87-0B04-4AC1-B9A9-22B1AC37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DDDFB-76F1-4753-88E5-EA50BD87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Revision becomes slower when key points are hidden inside long notes.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DD349-64FA-4BD9-BD67-D6C53563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BF664-6FF3-4BD8-87EF-D440C9D3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Generic practice questions repeat ideas and do not reflect the uploaded material.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9B0C8-7BCC-46DC-BB06-2D67B929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8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BD9C2-1C3C-48A7-90F8-9315AEC1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Students also need a simple way to track tasks, chat about a topic and return to their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11692-BEE7-4E9F-AF56-BA36748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2705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DESIGNED FOR B.TECH STUDENTS</a:t>
            </a:r>
          </a:p>
        </p:txBody>
      </p:sp>
    </p:spTree>
    <p:extLst>
      <p:ext uri="{BB962C8B-B14F-4D97-AF65-F5344CB8AC3E}">
        <p14:creationId xmlns:p14="http://schemas.microsoft.com/office/powerpoint/2010/main" val="613155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400B0-FCBC-4AC1-B1F7-6851EDB2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C641B-BBDE-4A4D-A7F4-38A7388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397D9-3FE4-4C63-BDA1-A966A1ED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72F81-6F05-478E-8CF3-BECF81D9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03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DCE3F-2613-417B-BC2C-D8C7A2E3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A4417-2D80-4B2F-8F64-BAC971B4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Make study actions feel connected.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C276A-27E8-46B0-B8AD-204345E0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brings material, AI assistance and personal organisation into one web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C517F-7646-48C0-B973-73A971FB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2383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935C7-0E75-4E75-8E8D-5BBD5E50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07571-4322-4FF8-84B1-88122C84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231CC-45E7-4107-96C1-211B7D37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Upload PDFs and keep study material available in a personal workspace.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83F30-C0F6-4E08-A779-4EDF3FD2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76500"/>
            <a:ext cx="22383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A64F6-2C4D-436E-B793-DA92BC82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77D25-05D9-4503-8669-0BD5C255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24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0D02C-AE94-4804-96C5-D1AC751A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289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Ask questions grounded in the selected study material.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AEB76-D04D-44C3-AD8C-79A16B6B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22383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8E168-F143-4E3D-A727-B2A46BEB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01603-A44E-4DF1-9056-DEF7E07A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24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6534C-C268-4E79-BF95-20AA2FE5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289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Generate flashcards and quizzes with broader, less repetitive coverage.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4218B-4207-40FF-BECF-00F39357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23759-1305-4757-A5A8-9BE9D027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4BDD0-43A9-4375-9C91-E2394E0F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17AD6-1EFB-452D-B0B2-FF11281E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76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Use a dashboard, planner, streaks and profile preferences to stay consistent.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2A67A-C15C-45F6-9121-AAB1C3C0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product goal is not just AI answers. It is a repeatable study workflow.</a:t>
            </a:r>
          </a:p>
        </p:txBody>
      </p:sp>
    </p:spTree>
    <p:extLst>
      <p:ext uri="{BB962C8B-B14F-4D97-AF65-F5344CB8AC3E}">
        <p14:creationId xmlns:p14="http://schemas.microsoft.com/office/powerpoint/2010/main" val="329462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40560-47C0-4D55-858E-7A984A1E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60793-C5E0-42E7-A260-8A2578AA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A2250-137B-4722-B889-785D638D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1E408-A577-4954-ACEC-F0BD125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04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1CC99-0358-45C2-8EC9-DEA2E59F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WHAT STUDENTS CAN 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6DCDF-9CA3-4951-A285-DA49DD02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One application, several focused study actions.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b2c9c32fd49ee"/>
          <a:srcRect xmlns:a="http://schemas.openxmlformats.org/drawingml/2006/main" l="15278" t="0" r="15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102870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94332-0596-4286-988D-7DE62E43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2870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51DB8-64C6-4B4E-856B-F5417FA7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Material library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3534D-4FF1-4099-94DA-F9D81B73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Store uploaded PDFs and choose the active study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4B1FC-0279-4737-B692-CF2FE54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AB34E-0DCB-49E6-9EE7-FE35D398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Study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51CFF-6C14-49CE-A9A0-7104066E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9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Ask a topic-specific question and receive a grounded response.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85F01-A0EB-4385-A850-4D21D8DB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081C7-AD50-49FF-A296-D18F8D01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Flashcards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4665F-CF0C-4B6E-A01A-A2CA5D51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Create short review prompts for recall practice.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FBFA4-B5D0-469C-A836-1C089774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4B445-FE8E-4025-BA58-5701108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57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Quizzes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31BFC-5518-4DD1-8894-330F7C61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Attempt varied MCQs and receive immediate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D0DB4-DA9E-4EDA-B4A3-89852DD4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327FE-09FB-461F-997B-86BC49D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258F1-676D-43EF-B3E9-36EB4D3C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Organise tasks and deadlines around a study routine.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13861-27F4-440B-B746-A74321E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1163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95D8E-A9C8-4D15-A965-6F2EBCEF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A59E7-8BD9-4D4E-9B09-03FD2BE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04E6E-FA09-42B0-A811-44CDF4CD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94E59-7CB8-42A0-9134-5DCD9794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05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046C9-C332-4067-9362-3462C27C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7E28F-23D4-4CFA-AE9A-E3060113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A React frontend communicates with a FastAPI backend and local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7567D-2C78-462C-8DFD-0994EBEC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20764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066A9-0E34-4A86-9670-453D998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Student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1C906-6AE3-45A0-9DA7-97A8035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React and Next.js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744D3-94A2-4886-AA2A-6492BF8C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20764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73BD7-315D-4C43-BB8C-C7684362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76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FastAPI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BD4F0-A084-4A1C-96C3-C4AB07D9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API routes and business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FC6F2-0494-4B97-9598-8A8F84DA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20764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08610-29AA-4FCE-9297-1D6E37DD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76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SQLite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E3510-4F92-4163-BCAE-3583AF57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Accounts, preferences and tasks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077D2-3A32-4B9B-86A2-40EEE9AE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030C1-8231-4547-A159-9D5BE781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765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Study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7DCD3-D9C6-41DF-B713-167E39C3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PDF text, chunks and AI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E8A2E-F2C7-4B2E-BC9A-2AC7970E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24175"/>
            <a:ext cx="381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C480B-6AA8-4144-91E1-797718B0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24175"/>
            <a:ext cx="381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510FD-63A5-4993-B484-1FFC6377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24175"/>
            <a:ext cx="381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164FA-B1E6-4648-9EB5-0ED4FF62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browser never directly handles database queries or provider calls. The backend manages these steps.</a:t>
            </a:r>
          </a:p>
        </p:txBody>
      </p:sp>
    </p:spTree>
    <p:extLst>
      <p:ext uri="{BB962C8B-B14F-4D97-AF65-F5344CB8AC3E}">
        <p14:creationId xmlns:p14="http://schemas.microsoft.com/office/powerpoint/2010/main" val="1333937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6CA4E-EAD6-4BB5-B3E9-A5E18016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2EBA7-6B0E-4518-9CEC-8772E650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8A761-94E2-448C-9065-4F06BBE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D20B4-AF61-4DB5-BA47-9DC9D815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06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BA240-CE8D-4E72-8178-5E1C080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BACKEND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B537E-6659-4284-B509-BEE46A20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A request travels through clear API steps before the student sees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6188D-690A-4E2C-A70B-CCECA921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728CC-E6BB-4E87-A37D-066BD97E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286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Create account, sign in and protect user-specific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CBD91-CA44-48D6-BEE7-3CFBA4D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D5C87-D45A-4C36-9574-89E89CC7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Material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AE45B-55DA-4F79-819A-FD3AE798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52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Read PDF text, split it into searchable chunks and save useful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87E17-A762-4518-B9AA-6D89B2D2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18BCD-A4A2-4302-9D4B-3A72DF06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Study endpoints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C05FF-5A94-4377-8BC1-D54D52D6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19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Receive questions, flashcard requests and quiz requests from the frontend.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B732C-989F-4003-B795-9D3DE95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2D651-D949-4311-A0D7-66F05E69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6C732-C915-4566-A49F-C543763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86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Store profiles, tasks, files and selected study context in SQLite.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D4804-4D16-471E-A44E-FA6A12C3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e2489859e46fa"/>
          <a:srcRect xmlns:a="http://schemas.openxmlformats.org/drawingml/2006/main" l="21560" t="0" r="215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733550"/>
            <a:ext cx="1885950" cy="2857500"/>
          </a:xfrm>
          <a:prstGeom xmlns:a="http://schemas.openxmlformats.org/drawingml/2006/main" prst="roundRect">
            <a:avLst>
              <a:gd name="adj" fmla="val 808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B3201-015E-47B5-99A3-4DDCFD83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33550"/>
            <a:ext cx="1885950" cy="2857500"/>
          </a:xfrm>
          <a:prstGeom xmlns:a="http://schemas.openxmlformats.org/drawingml/2006/main" prst="roundRect">
            <a:avLst>
              <a:gd name="adj" fmla="val 808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0610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A855A-4657-47C9-85E3-5607A0E5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EF5D0-6BC5-4730-B88B-86CF50B6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DB91C-05B7-48A1-88A3-2C60B64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405A8-8845-48F9-8B9C-4E295A5E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07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B90EE-E846-4C7D-A3EE-833F21F9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GROUNDED AI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EE4C0-CB36-4B76-BAAA-BD19F759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selected PDF supplies context for answers and practice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7A896-1576-4FFB-9578-AB0A73C8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1E2BF-9580-4931-A88E-06921427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3757E-315C-4D1B-AE7D-9C05B4DF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Upload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4EB57-F1EB-4190-863D-844AB0BB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PyMuPDF extracts text from the student’s document.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9C158-654D-47B0-A96A-8FE06DB6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B3720-0D5A-47A9-926F-18F9716F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A5260-BAE6-48CF-866C-EB849CB0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Chunk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28D29-BD62-4CB8-9694-39E42988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backend divides text into smaller searchable pieces.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18383-0CA3-435F-BD82-E1EF68CC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A7CF6-CFC2-4B01-B2B4-E535E0D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EBC93-E886-42CA-8731-F7C8AA6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Find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B0A36-7D5F-4BE1-8D15-6EA6F1D5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TF-IDF retrieval selects relevant chunks for a question.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950C6-911F-46F1-B62A-7C647FB4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E9738-3E9D-46BA-8C0D-160E7D20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AB13F-540F-43BC-A1D9-C01B9237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Generate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AEB6E-1AAF-4F1C-A51E-751DB533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Gemini is used when available, with local handling for reliability.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1E476-D1AD-4F00-B7CA-A0FF4A3F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Why this matters: the system can answer using material the student selected, instead of only a generic prompt.</a:t>
            </a:r>
          </a:p>
        </p:txBody>
      </p:sp>
    </p:spTree>
    <p:extLst>
      <p:ext uri="{BB962C8B-B14F-4D97-AF65-F5344CB8AC3E}">
        <p14:creationId xmlns:p14="http://schemas.microsoft.com/office/powerpoint/2010/main" val="1858721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E118C-FC0C-44E5-A0CE-4C01B77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F3B56-5751-4F7C-AB3A-FCF0DB8C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7B842-3BCE-4BF2-A18A-3561EE8B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2049-8F76-4A11-B24A-FC7A6AA3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08  ·  Suggested speaker: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5230A-2DEE-4E3A-B8D0-E3F34F2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FRONTEND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EA2A2-E367-4066-8C3E-AA5B578D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Reusable React components power the interface.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1F233-2ABB-4818-BF5B-2C76FD59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af09f667b4296"/>
          <a:srcRect xmlns:a="http://schemas.openxmlformats.org/drawingml/2006/main" l="12855" t="0" r="12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99060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D4394-4B2F-48BB-A623-90422456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99060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E220C-7037-41C9-87E4-D93B405D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App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ADAB8-2CEE-42B6-B5FF-E19CAEF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Dashboard, library, chat, quizzes, planner and profile pages.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F94DE-4ED1-4FA9-9142-6353DF3D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Reusable 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8B0FA-67C8-4323-9374-3207E908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Navigation, cards, controls and modal patterns are shared across screens.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3C0E9-0416-4AAA-8389-AE551A6C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State and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64110-26FE-458C-8ACB-F54BBCB7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frontend calls backend routes and refreshes visible study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2864D-BCCD-442C-AB9A-19D9B2D8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Responsive styling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EC33B-463A-461C-BA2F-994DD7E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Layouts adapt to common desktop and mobile widths.</a:t>
            </a:r>
          </a:p>
        </p:txBody>
      </p:sp>
    </p:spTree>
    <p:extLst>
      <p:ext uri="{BB962C8B-B14F-4D97-AF65-F5344CB8AC3E}">
        <p14:creationId xmlns:p14="http://schemas.microsoft.com/office/powerpoint/2010/main" val="146939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2F1D2-1129-444F-ABEE-2C49B832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E3AF0-9D86-4785-AD2A-787BB233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64098-4032-4340-AF82-A1F1C59B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E8623-F803-47F1-B88F-15A4733C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09  ·  Suggested speaker: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E33B0-0833-4D6A-8A2A-F655ADE0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DESIGNED FOR A HUMAN STUDY ROUTINE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86F98-F0A5-4B7D-882F-30C04402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Warm surfaces, clear hierarchy and fewer distractions support regular use.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85e1517414e54"/>
          <a:srcRect xmlns:a="http://schemas.openxmlformats.org/drawingml/2006/main" l="0" t="11413" r="0" b="11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A808D-1C6E-4318-ABE3-E1F41F7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89920ee124b65"/>
          <a:srcRect xmlns:a="http://schemas.openxmlformats.org/drawingml/2006/main" l="0" t="19391" r="0" b="19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D3863-DF73-4887-8474-5AF011D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7F6D9-9D02-4160-92AB-585C2F18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CD08F-135A-4487-9738-1485CF8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2038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CONTEXTUAL STUDY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F1014-3887-4610-A507-91872A96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interface puts the next study action in view instead of making students search through technical menus.</a:t>
            </a:r>
          </a:p>
        </p:txBody>
      </p:sp>
    </p:spTree>
    <p:extLst>
      <p:ext uri="{BB962C8B-B14F-4D97-AF65-F5344CB8AC3E}">
        <p14:creationId xmlns:p14="http://schemas.microsoft.com/office/powerpoint/2010/main" val="7691357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CF393-D1C9-443E-8723-D7938E35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61C48-5699-4C5C-AB69-DAB3A585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4B43E-C1CC-4D2A-AF6C-EB660BB9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11199-23E1-4ACE-9F13-35EA1FCC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10  ·  Suggested speaker: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B088D-10D0-468B-B6DD-C83327A6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PROFILE, THEME AND AVATAR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7E60D-702C-4DF4-B62F-148C51A5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Personalisation makes the product feel owned by the student.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504ebdd554529"/>
          <a:srcRect xmlns:a="http://schemas.openxmlformats.org/drawingml/2006/main" l="0" t="7924" r="0" b="7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895350"/>
            <a:ext cx="3657600" cy="413385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74B9C-B243-422A-A32D-DD546258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3657600" cy="4133850"/>
          </a:xfrm>
          <a:prstGeom xmlns:a="http://schemas.openxmlformats.org/drawingml/2006/main" prst="roundRect">
            <a:avLst>
              <a:gd name="adj" fmla="val 41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4E0BB-E8F1-4E1F-A7BE-CD4B4390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980E9-E010-4787-8EA7-1670172A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743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A profile setup flow stores preferences through the backend profile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F17C1-6F90-442C-AE55-16FF2D96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EE76E-B231-4A65-A757-B597A6BA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743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Gender-aware options and custom choices are presented in a 3D-styled visual avatar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262D2-3CE5-44AE-AEEF-568D8B64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8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541F3-46BD-49B4-B636-39249FCB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5743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Theme controls support light and dark study environments while maintaining readable content.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A60FC-2457-4953-99C3-49863800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2952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FRONTEND-ONLY PRESENTATION SECTION</a:t>
            </a:r>
          </a:p>
        </p:txBody>
      </p:sp>
    </p:spTree>
    <p:extLst>
      <p:ext uri="{BB962C8B-B14F-4D97-AF65-F5344CB8AC3E}">
        <p14:creationId xmlns:p14="http://schemas.microsoft.com/office/powerpoint/2010/main" val="623937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7B1C8-C128-4C51-B0F9-11526BDA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BB7AE-2FC8-401E-A564-7FE49664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1E525-AAC5-40BE-838F-B4A8FF6D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C95BB-6840-40F6-9BA9-F460BB6F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11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EDF3A-7E0E-4BDC-BD14-44B1FA5B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PRACTICE THAT STAYS USEFUL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5E485-985F-4FD1-A836-D5E4A165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Flashcards and quizzes are designed to cover different ideas from the same material.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9e92065a34ebc"/>
          <a:srcRect xmlns:a="http://schemas.openxmlformats.org/drawingml/2006/main" l="13578" t="0" r="135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8125" y="990600"/>
            <a:ext cx="3381375" cy="4000500"/>
          </a:xfrm>
          <a:prstGeom xmlns:a="http://schemas.openxmlformats.org/drawingml/2006/main" prst="roundRect">
            <a:avLst>
              <a:gd name="adj" fmla="val 450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CB194-4DFB-44F5-AE1E-CA96B43A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90600"/>
            <a:ext cx="3381375" cy="4000500"/>
          </a:xfrm>
          <a:prstGeom xmlns:a="http://schemas.openxmlformats.org/drawingml/2006/main" prst="roundRect">
            <a:avLst>
              <a:gd name="adj" fmla="val 45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C7500-F382-416F-823B-6BF9D601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114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3573D-CDC8-4257-8B6B-5CA3C025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01A58-6638-4ABC-9379-C807F336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Broader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A77A9-AAFC-42CF-AE9C-A29F5E4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Prompts ask for several different concepts.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4CFB8-3A84-42E9-8B45-D1D1A391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7500"/>
            <a:ext cx="2114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1AA38-26F4-4971-AD5D-502B257B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A4291-A55E-40CF-B853-32024A7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051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Duplicate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9B956-2F64-4DCD-807F-E734453F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09975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Similarity checks remove near-repeat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B36A2-A6B7-4879-BFDF-9A55D6D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2114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E8624-5201-40BD-A168-4E236C48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F7F40-A1A6-41B4-940C-26EAFBF4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051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Topic labels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B6E97-E9A2-480B-A025-30F9363C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9975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Focus labels show what each item tests.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DFCD68-E91A-4FF6-9CDF-633660D8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If the external AI provider is temporarily busy, the backend creates a local source-grounded quiz from saved material chunks.</a:t>
            </a:r>
          </a:p>
        </p:txBody>
      </p:sp>
    </p:spTree>
    <p:extLst>
      <p:ext uri="{BB962C8B-B14F-4D97-AF65-F5344CB8AC3E}">
        <p14:creationId xmlns:p14="http://schemas.microsoft.com/office/powerpoint/2010/main" val="4577807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554D6-A9C1-451B-A75D-934BC63C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2478E-7358-4355-96A1-9374284F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31348-D272-43EB-9419-786909EE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E9F4E-3C47-4439-8D42-4D0EB26B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12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94F6A-8BBC-43EA-A286-85257C7F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VALIDATION AND CURRENT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DED0B-F51E-4D95-B448-80E6AA4D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project was checked from backend behaviour through to the visible frontend build.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6142A-7EBF-4D72-91D7-CA51D0C5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58B4C-05F1-4D1B-B683-483B2E50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7FB5-7985-46FD-8044-0BFB9DCD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Backend reliability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7AF40-4717-41D3-96D1-1F8E0E74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Targeted tests covered AI failure handling and workspace behaviour.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4A786-B589-4770-8320-3841AA67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EC55C-A22D-4D39-9365-4DF3A949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398DA-5900-46DA-851F-6D798D8E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Local quiz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97BFC-D97F-4519-81C6-3E10816E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Direct testing generated varied questions from stored study chunks.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FCCAB-4E78-486F-936A-FD93430A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04C19-09BB-4B30-8CB1-979B6F46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04FCF-00EC-4302-9898-5BA3E03F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20540-BA9B-4318-AEEB-3CDCC8DB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Next.js frontend completed a production build successfully.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696CF-EE0F-43D0-9670-E45B3A7A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66C3D-4454-4E38-A038-40B34C44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5F66B-B279-4E91-AA57-6F6F1C1C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Browser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83E03-1D95-4656-9750-5A19F6C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Pages and study actions were checked through the running local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13540927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F854D-8309-4224-9AC7-9C04A92C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E3DD1-3149-40D9-9ACD-CD5FBC0D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AEBDC-E1E2-467C-98F4-CC914BDD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22464-5F60-4F7C-8620-AD32EA51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13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FF387-5A5C-4D7C-9487-FED61E49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E7468-6817-4A7E-A63A-1AE855FF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project has a solid student workflow and clear paths for future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E6CFE-3239-4278-BB2B-39143C82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Smarter content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F50A2-294B-4B48-9BC5-A0FDF2FC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Allow students to rate cards and quizzes to improve future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EBEA7-CE8E-4747-A697-52CA5839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9F001-89E3-4852-8EF7-30EC1AAE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B8256-3BC8-435D-9DD6-A93C1E63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Show weak topics, time spent and revision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F6A05-A87E-41F9-BEBE-FC47A95F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575DA-88BA-4D3F-8137-4620ED4D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More formats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F442B-15C0-4FC2-9176-F97DD59A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Support notes, images and additional subject-specific templates.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8916A-638F-4A71-9EDD-4967BEF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a35b62d254ea7"/>
          <a:srcRect xmlns:a="http://schemas.openxmlformats.org/drawingml/2006/main" l="0" t="1538" r="0" b="1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52625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B0107-7822-4DB3-B3B0-C777CC0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67193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5531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B12DB-6EED-4165-8EE6-D6F627F2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62100" y="36957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839DD-9C2A-400C-B587-4429003B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2095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18C3-3711-4D86-A506-B8957EF0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79DC6-DF8A-4313-B37C-86449A5F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881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ED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DFF"/>
                </a:solidFill>
                <a:latin typeface="Arial"/>
                <a:ea typeface="Arial"/>
                <a:cs typeface="Arial"/>
              </a:rPr>
              <a:t>1. Sign in  →  2. Select study material  →  3. Ask a question  →  4. Generate a quiz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70BBB-A541-457F-84E5-7B9A9810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874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B5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454EE-6B55-4A33-AF91-874631D3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CFD57-E972-4663-B385-DCC6BCCD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ED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EDF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F992F-DD8B-4FC7-A738-EA95F10B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6E143-E3E4-4138-B43E-E7216A75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8DD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DDF4"/>
                </a:solidFill>
                <a:latin typeface="Arial"/>
                <a:ea typeface="Arial"/>
                <a:cs typeface="Arial"/>
              </a:rPr>
              <a:t>StudyForge AI — a calmer study workspace for B.Tech students</a:t>
            </a:r>
          </a:p>
        </p:txBody>
      </p:sp>
    </p:spTree>
    <p:extLst>
      <p:ext uri="{BB962C8B-B14F-4D97-AF65-F5344CB8AC3E}">
        <p14:creationId xmlns:p14="http://schemas.microsoft.com/office/powerpoint/2010/main" val="1140734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2026-10-05T14:01:40.0990000Z</dcterms:created>
  <dcterms:modified xsi:type="dcterms:W3CDTF">2026-10-05T14:01:40.0990000Z</dcterms:modified>
</coreProperties>
</file>