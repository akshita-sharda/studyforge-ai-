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e280d467184da8" /><Relationship Type="http://schemas.openxmlformats.org/officeDocument/2006/relationships/extended-properties" Target="/docProps/app.xml" Id="R420ee2965993433f" /><Relationship Type="http://schemas.openxmlformats.org/officeDocument/2006/relationships/officeDocument" Target="/ppt/presentation.xml" Id="R78843190eb754e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7dd66fb9846e1"/>
  </p:sldMasterIdLst>
  <p:notesMasterIdLst>
    <p:notesMasterId xmlns:r="http://schemas.openxmlformats.org/officeDocument/2006/relationships" r:id="R9e97c63b74304f79"/>
  </p:notesMasterIdLst>
  <p:sldIdLst>
    <p:sldId xmlns:r="http://schemas.openxmlformats.org/officeDocument/2006/relationships" id="256" r:id="R2481d7a95ac149cf"/>
    <p:sldId xmlns:r="http://schemas.openxmlformats.org/officeDocument/2006/relationships" id="257" r:id="Rd009a5d9d8ce4d37"/>
    <p:sldId xmlns:r="http://schemas.openxmlformats.org/officeDocument/2006/relationships" id="258" r:id="R4d1fcd9e0fb849a1"/>
    <p:sldId xmlns:r="http://schemas.openxmlformats.org/officeDocument/2006/relationships" id="259" r:id="R66d4b4babcb7407e"/>
    <p:sldId xmlns:r="http://schemas.openxmlformats.org/officeDocument/2006/relationships" id="260" r:id="R82157c03847544d1"/>
    <p:sldId xmlns:r="http://schemas.openxmlformats.org/officeDocument/2006/relationships" id="261" r:id="Rff33206b0c7f4456"/>
    <p:sldId xmlns:r="http://schemas.openxmlformats.org/officeDocument/2006/relationships" id="262" r:id="R1208562b2eff4c1e"/>
    <p:sldId xmlns:r="http://schemas.openxmlformats.org/officeDocument/2006/relationships" id="263" r:id="R0f6bd8679f024da1"/>
    <p:sldId xmlns:r="http://schemas.openxmlformats.org/officeDocument/2006/relationships" id="264" r:id="Rf01993b25d8a49d5"/>
    <p:sldId xmlns:r="http://schemas.openxmlformats.org/officeDocument/2006/relationships" id="265" r:id="R703fd78d48be458c"/>
    <p:sldId xmlns:r="http://schemas.openxmlformats.org/officeDocument/2006/relationships" id="266" r:id="R928491bc2e2546e0"/>
    <p:sldId xmlns:r="http://schemas.openxmlformats.org/officeDocument/2006/relationships" id="267" r:id="Rb0f89f28ed91420a"/>
    <p:sldId xmlns:r="http://schemas.openxmlformats.org/officeDocument/2006/relationships" id="268" r:id="Rf1c20aac813c49ca"/>
    <p:sldId xmlns:r="http://schemas.openxmlformats.org/officeDocument/2006/relationships" id="269" r:id="Rbf2dd86171cd47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f76e86147a41c9" /><Relationship Type="http://schemas.openxmlformats.org/officeDocument/2006/relationships/slideMaster" Target="/ppt/slideMasters/slideMaster1.xml" Id="R34c7dd66fb9846e1" /><Relationship Type="http://schemas.openxmlformats.org/officeDocument/2006/relationships/notesMaster" Target="/ppt/notesMasters/notesMaster1.xml" Id="R9e97c63b74304f79" /><Relationship Type="http://schemas.openxmlformats.org/officeDocument/2006/relationships/presProps" Target="/ppt/presProps.xml" Id="Rf7dd8742db8b44d8" /><Relationship Type="http://schemas.openxmlformats.org/officeDocument/2006/relationships/tableStyles" Target="/ppt/tableStyles.xml" Id="R39cd6ed6a09d4aff" /><Relationship Type="http://schemas.openxmlformats.org/officeDocument/2006/relationships/slide" Target="/ppt/slides/slide1.xml" Id="R2481d7a95ac149cf" /><Relationship Type="http://schemas.openxmlformats.org/officeDocument/2006/relationships/slide" Target="/ppt/slides/slide2.xml" Id="Rd009a5d9d8ce4d37" /><Relationship Type="http://schemas.openxmlformats.org/officeDocument/2006/relationships/slide" Target="/ppt/slides/slide3.xml" Id="R4d1fcd9e0fb849a1" /><Relationship Type="http://schemas.openxmlformats.org/officeDocument/2006/relationships/slide" Target="/ppt/slides/slide4.xml" Id="R66d4b4babcb7407e" /><Relationship Type="http://schemas.openxmlformats.org/officeDocument/2006/relationships/slide" Target="/ppt/slides/slide5.xml" Id="R82157c03847544d1" /><Relationship Type="http://schemas.openxmlformats.org/officeDocument/2006/relationships/slide" Target="/ppt/slides/slide6.xml" Id="Rff33206b0c7f4456" /><Relationship Type="http://schemas.openxmlformats.org/officeDocument/2006/relationships/slide" Target="/ppt/slides/slide7.xml" Id="R1208562b2eff4c1e" /><Relationship Type="http://schemas.openxmlformats.org/officeDocument/2006/relationships/slide" Target="/ppt/slides/slide8.xml" Id="R0f6bd8679f024da1" /><Relationship Type="http://schemas.openxmlformats.org/officeDocument/2006/relationships/slide" Target="/ppt/slides/slide9.xml" Id="Rf01993b25d8a49d5" /><Relationship Type="http://schemas.openxmlformats.org/officeDocument/2006/relationships/slide" Target="/ppt/slides/slide10.xml" Id="R703fd78d48be458c" /><Relationship Type="http://schemas.openxmlformats.org/officeDocument/2006/relationships/slide" Target="/ppt/slides/slide11.xml" Id="R928491bc2e2546e0" /><Relationship Type="http://schemas.openxmlformats.org/officeDocument/2006/relationships/slide" Target="/ppt/slides/slide12.xml" Id="Rb0f89f28ed91420a" /><Relationship Type="http://schemas.openxmlformats.org/officeDocument/2006/relationships/slide" Target="/ppt/slides/slide13.xml" Id="Rf1c20aac813c49ca" /><Relationship Type="http://schemas.openxmlformats.org/officeDocument/2006/relationships/slide" Target="/ppt/slides/slide14.xml" Id="Rbf2dd86171cd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5d56c9c0864a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b480b79ec4b69" /><Relationship Type="http://schemas.openxmlformats.org/officeDocument/2006/relationships/notesMaster" Target="/ppt/notesMasters/notesMaster1.xml" Id="R014ee0d234164e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7fa2d52fd4802" /><Relationship Type="http://schemas.openxmlformats.org/officeDocument/2006/relationships/notesMaster" Target="/ppt/notesMasters/notesMaster1.xml" Id="Ra05d30d4afe147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009d38ee8f4d78" /><Relationship Type="http://schemas.openxmlformats.org/officeDocument/2006/relationships/notesMaster" Target="/ppt/notesMasters/notesMaster1.xml" Id="R03c2e0b1fd8f48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a74239740d464c" /><Relationship Type="http://schemas.openxmlformats.org/officeDocument/2006/relationships/notesMaster" Target="/ppt/notesMasters/notesMaster1.xml" Id="R09351879e07841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6691492fd497a" /><Relationship Type="http://schemas.openxmlformats.org/officeDocument/2006/relationships/notesMaster" Target="/ppt/notesMasters/notesMaster1.xml" Id="R58ea3a4939a049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4e6d7e430f4b93" /><Relationship Type="http://schemas.openxmlformats.org/officeDocument/2006/relationships/notesMaster" Target="/ppt/notesMasters/notesMaster1.xml" Id="R9c4ddf8a768449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9640d8ba4e4457" /><Relationship Type="http://schemas.openxmlformats.org/officeDocument/2006/relationships/notesMaster" Target="/ppt/notesMasters/notesMaster1.xml" Id="R2076b6e13e1549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8d83ccdcd046be" /><Relationship Type="http://schemas.openxmlformats.org/officeDocument/2006/relationships/notesMaster" Target="/ppt/notesMasters/notesMaster1.xml" Id="Rd1a58251b87445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44058495a6418d" /><Relationship Type="http://schemas.openxmlformats.org/officeDocument/2006/relationships/notesMaster" Target="/ppt/notesMasters/notesMaster1.xml" Id="Ra1d55744a6e446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f65874a3b7492e" /><Relationship Type="http://schemas.openxmlformats.org/officeDocument/2006/relationships/notesMaster" Target="/ppt/notesMasters/notesMaster1.xml" Id="R3824aadca5c14b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deaa7c04e24546" /><Relationship Type="http://schemas.openxmlformats.org/officeDocument/2006/relationships/notesMaster" Target="/ppt/notesMasters/notesMaster1.xml" Id="R584f38bedf4343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cbcfc215664f90" /><Relationship Type="http://schemas.openxmlformats.org/officeDocument/2006/relationships/notesMaster" Target="/ppt/notesMasters/notesMaster1.xml" Id="Rd030f1af39f54f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78cbc1811a4079" /><Relationship Type="http://schemas.openxmlformats.org/officeDocument/2006/relationships/notesMaster" Target="/ppt/notesMasters/notesMaster1.xml" Id="R48defc59813046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72d1c053494041" /><Relationship Type="http://schemas.openxmlformats.org/officeDocument/2006/relationships/notesMaster" Target="/ppt/notesMasters/notesMaster1.xml" Id="Raf3ae8332494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Introduce the team. State that Manik presents the frontend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Start with the real student problem, then explain the project as one connected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product in four actions. These are the project pillars.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Give a brief feature tour. Aasveer can mention each capability in one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that the backend is the controlled layer between what the student clicks and how data or AI is handled.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an everyday explanation: endpoints are doors in the backend that receive a request and send an organised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Describe the retrieval flow in simple language. Find the relevant notes first, then compose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Manik explains the frontend as the visible layer that helps students reach the next action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the screenshots to describe the user journey: first orient on the dashboard, then ask a study question with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Make an honest distinction: the avatar is 3D-styled in the UI, designed to feel visual and personal.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Emphasise the fallback: a provider issue should not stop the student from practising.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Summarise the validation: targeted backend tests, fallback behaviour, frontend build and browser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Close with realistic next steps that build on the current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Invite the faculty to see the actual application. Keep the final interaction shared across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ce5a150c245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776fb0bab04ebc" /><Relationship Type="http://schemas.openxmlformats.org/officeDocument/2006/relationships/slideLayout" Target="/ppt/slideLayouts/slideLayout1.xml" Id="R9fcbde8f229a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cbde8f229a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c4fecdaaf481a" /><Relationship Type="http://schemas.openxmlformats.org/officeDocument/2006/relationships/image" Target="/ppt/media/image.png" Id="R6cf75af1a33b439e" /><Relationship Type="http://schemas.openxmlformats.org/officeDocument/2006/relationships/notesSlide" Target="/ppt/notesSlides/notesSlide1.xml" Id="R1ae88120a9fc41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04084307b453f" /><Relationship Type="http://schemas.openxmlformats.org/officeDocument/2006/relationships/image" Target="/ppt/media/image2.png" Id="Rde00dbe629e44110" /><Relationship Type="http://schemas.openxmlformats.org/officeDocument/2006/relationships/notesSlide" Target="/ppt/notesSlides/notesSlide2.xml" Id="Rca9f200747f3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f733bf11940b0" /><Relationship Type="http://schemas.openxmlformats.org/officeDocument/2006/relationships/notesSlide" Target="/ppt/notesSlides/notesSlide3.xml" Id="R2546db2bb51d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dfd11b8ac4093" /><Relationship Type="http://schemas.openxmlformats.org/officeDocument/2006/relationships/image" Target="/ppt/media/image3.png" Id="R97e4fd62abed40cb" /><Relationship Type="http://schemas.openxmlformats.org/officeDocument/2006/relationships/notesSlide" Target="/ppt/notesSlides/notesSlide4.xml" Id="Rda269255892e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a8ecc5ed241e6" /><Relationship Type="http://schemas.openxmlformats.org/officeDocument/2006/relationships/notesSlide" Target="/ppt/notesSlides/notesSlide5.xml" Id="Rc691aee4fb7f44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6cdf1094b45f5" /><Relationship Type="http://schemas.openxmlformats.org/officeDocument/2006/relationships/image" Target="/ppt/media/image4.png" Id="Re7c930ed7ce0444b" /><Relationship Type="http://schemas.openxmlformats.org/officeDocument/2006/relationships/notesSlide" Target="/ppt/notesSlides/notesSlide6.xml" Id="R9ca0ce40d62841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d09d9d61e4234" /><Relationship Type="http://schemas.openxmlformats.org/officeDocument/2006/relationships/notesSlide" Target="/ppt/notesSlides/notesSlide7.xml" Id="Rc056ac29a8f24d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38b2a1f674621" /><Relationship Type="http://schemas.openxmlformats.org/officeDocument/2006/relationships/image" Target="/ppt/media/image5.png" Id="R303c9f933a174f41" /><Relationship Type="http://schemas.openxmlformats.org/officeDocument/2006/relationships/notesSlide" Target="/ppt/notesSlides/notesSlide8.xml" Id="R7b6c90c4f08c49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fe320855540a3" /><Relationship Type="http://schemas.openxmlformats.org/officeDocument/2006/relationships/image" Target="/ppt/media/image6.png" Id="R27ffa2b0176142bf" /><Relationship Type="http://schemas.openxmlformats.org/officeDocument/2006/relationships/image" Target="/ppt/media/image7.png" Id="R1f3c9d2623034426" /><Relationship Type="http://schemas.openxmlformats.org/officeDocument/2006/relationships/notesSlide" Target="/ppt/notesSlides/notesSlide9.xml" Id="Rb1f3a5cf55f044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7da1851d14c84" /><Relationship Type="http://schemas.openxmlformats.org/officeDocument/2006/relationships/image" Target="/ppt/media/image8.png" Id="R3a2e6133618346c7" /><Relationship Type="http://schemas.openxmlformats.org/officeDocument/2006/relationships/notesSlide" Target="/ppt/notesSlides/notesSlide10.xml" Id="R34924588bb954c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8f13106a24804" /><Relationship Type="http://schemas.openxmlformats.org/officeDocument/2006/relationships/image" Target="/ppt/media/image9.png" Id="Rc8401c1bbea742a5" /><Relationship Type="http://schemas.openxmlformats.org/officeDocument/2006/relationships/notesSlide" Target="/ppt/notesSlides/notesSlide11.xml" Id="R766a8253c1f344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756a630284aaf" /><Relationship Type="http://schemas.openxmlformats.org/officeDocument/2006/relationships/notesSlide" Target="/ppt/notesSlides/notesSlide12.xml" Id="R0922cfcaf65840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57ffdfef940b2" /><Relationship Type="http://schemas.openxmlformats.org/officeDocument/2006/relationships/image" Target="/ppt/media/image10.png" Id="R2722c78534ab4810" /><Relationship Type="http://schemas.openxmlformats.org/officeDocument/2006/relationships/notesSlide" Target="/ppt/notesSlides/notesSlide13.xml" Id="Rad5f1487684e46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599a3722489e" /><Relationship Type="http://schemas.openxmlformats.org/officeDocument/2006/relationships/notesSlide" Target="/ppt/notesSlides/notesSlide14.xml" Id="R1fd88d28acc047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3A389-1385-4C99-B899-6DF1D272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2E68F-F10F-44A6-AA89-5142C10E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3D091-0D14-4C9B-B024-18AB783E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D1C01-2514-4D24-BE16-0BBB0AC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01  ·  Team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8A701-B244-4111-8DA3-3DD9058B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C9E96-9DA2-4B50-A13E-E6B394FA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STUDENT PROJECT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98EFB-092D-4C9F-BCC1-8E89B5D3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STUDYFORGE</a:t>
            </a:r>
          </a:p>
          <a:p xmlns:a="http://schemas.openxmlformats.org/drawingml/2006/main">
            <a:pPr>
              <a:defRPr sz="46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6D172-73BB-4D89-A139-51F4C0C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DFF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DFF4"/>
                </a:solidFill>
                <a:latin typeface="Arial"/>
                <a:ea typeface="Arial"/>
                <a:cs typeface="Arial"/>
              </a:rPr>
              <a:t>A student-built platform that turns class material into focused practice.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75af1a33b439e"/>
          <a:srcRect xmlns:a="http://schemas.openxmlformats.org/drawingml/2006/main" l="0" t="4760" r="0" b="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0E0C5-5A8A-4AD0-B389-B699261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0663B-0FA3-4F08-BC01-48B8A5E9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6667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78E1C-05EB-4E19-85E3-AE306984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Akshita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22FBB-1892-400B-B1C6-AA2312AE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Aasveer Singh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E86A9-8FC7-404F-BCFA-A42CA7D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0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Manik Jasrotia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AC936-3815-482D-94E1-3958D0F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673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Frontend section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A8E27-5992-447F-945D-9E2103C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054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Manik Jasrotia</a:t>
            </a:r>
          </a:p>
        </p:txBody>
      </p:sp>
    </p:spTree>
    <p:extLst>
      <p:ext uri="{BB962C8B-B14F-4D97-AF65-F5344CB8AC3E}">
        <p14:creationId xmlns:p14="http://schemas.microsoft.com/office/powerpoint/2010/main" val="733298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E9C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151EC-FA8C-4A19-B952-AE51AEBD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F55B6-0D36-4F3B-AB03-B8F6A05B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E6474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28C89-9993-4CC3-863A-D45EA36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02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4CF5D-59FE-4F03-8C80-E6CBD1A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THE STUDENT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304DD-E8B5-4BD1-8ED4-FF0388A0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Learning material is everywhere. A study workflow is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D3F1F-6332-4FDE-B8D4-7A041336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StudyForge turns scattered notes into an organised study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F748A-8253-48D2-99D3-3C0B92CF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4762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48D6D-FE30-4611-9344-2A7A8A39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Students often switch</a:t>
            </a:r>
          </a:p>
          <a:p xmlns:a="http://schemas.openxmlformats.org/drawingml/2006/main">
            <a:pPr>
              <a:defRPr sz="21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between PDFs, browser tabs</a:t>
            </a:r>
          </a:p>
          <a:p xmlns:a="http://schemas.openxmlformats.org/drawingml/2006/main">
            <a:pPr>
              <a:defRPr sz="21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and separate practice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4F106-8290-4AAE-B87F-C9B47AD4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4DA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4DAF2"/>
                </a:solidFill>
                <a:latin typeface="Arial"/>
                <a:ea typeface="Arial"/>
                <a:cs typeface="Arial"/>
              </a:rPr>
              <a:t>The result is friction at exactly the moment they want to revise.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0dbe629e44110"/>
          <a:srcRect xmlns:a="http://schemas.openxmlformats.org/drawingml/2006/main" l="0" t="27232" r="0" b="27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9B892-E7BB-4CFE-A16F-F3D3543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33093-DAEA-4F84-BAC9-554AA643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A calmer starting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9955C-6B82-4DB4-8FE2-9F0E9BA9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57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Select material → understand it → practise it → return tomorrow.</a:t>
            </a:r>
          </a:p>
        </p:txBody>
      </p:sp>
    </p:spTree>
    <p:extLst>
      <p:ext uri="{BB962C8B-B14F-4D97-AF65-F5344CB8AC3E}">
        <p14:creationId xmlns:p14="http://schemas.microsoft.com/office/powerpoint/2010/main" val="1208371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5CCDA-86EE-4E1A-B146-1229E0DD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D8B2D-BB34-4D16-9592-181BB0E3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70CAC-25DD-4536-BEC5-B6C19C19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06C5F-00A6-4D07-A560-3D45FE43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03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BAD2F-ED80-4EFE-9D6C-202E0361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8D4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D49B"/>
                </a:solidFill>
                <a:latin typeface="Arial"/>
                <a:ea typeface="Arial"/>
                <a:cs typeface="Arial"/>
              </a:rPr>
              <a:t>THE PRODUCT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E6114-E8A6-4CD5-861D-61CDECBF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One study space. Four connected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1E194-EE4F-4766-A9F3-B2817F1E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value lies in moving naturally from material to understanding to practice.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7AF7C-AF5E-414A-AE1B-6EA0EE5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8D4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DFF83-9D1B-4E84-A4E4-AB159540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8B45C-EF10-46E0-8392-2E9643DA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C0182-0082-403A-8A4F-0FEA7D0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Upload and keep material ready for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770D8-A56F-4970-91BC-DA4CBAE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D7D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579C8-4EBB-442B-AF4E-49C8FB2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596ED-031B-4C9A-BAC7-418D8CC6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2D1A8-E73E-4191-BC52-9D9581B6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Ask questions using the selected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DF1AC-C6E5-43F9-9066-B1FB62C5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DFD2C-5818-43B8-B79A-0174DD45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97DE3-BE23-498A-B3C0-A6372D1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17337-574B-4206-8638-C63F3615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Create distinct flashcards and quizzes.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07E4E-E8F6-4FEC-9A8F-43ECBC61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5D36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D628C-183F-484A-AEEE-9468B695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DC7DC-43BB-4220-A205-4BE495F2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9A4F8-4676-4F6B-8C51-8F9211DF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Plan tasks and make progress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E4610-BBAB-4E8B-A1C1-BD9F89C0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Not just answers. A repeatable learning habit.</a:t>
            </a:r>
          </a:p>
        </p:txBody>
      </p:sp>
    </p:spTree>
    <p:extLst>
      <p:ext uri="{BB962C8B-B14F-4D97-AF65-F5344CB8AC3E}">
        <p14:creationId xmlns:p14="http://schemas.microsoft.com/office/powerpoint/2010/main" val="1065011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E9C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4AF05-B627-418B-97A4-EBE3D914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1E0BF-DCAB-4672-9709-C5E70348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E6474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23AA6-8FFA-41B6-AD3E-C3ABF7E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04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D6492-6C8E-42EC-BC0D-AEBA77D6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WHAT STUDYFORGE OFFERS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145FA-8960-4293-809E-5C187AE8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Five useful tools inside one familiar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3BFC0-4532-498B-8031-2271E93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Each feature solves a small study problem without overloading the student.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A4F3E-5E1B-4B97-BFCA-F24BD2C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D4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C7003-62F5-408D-BC06-250696D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Material 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E6F63-F40B-46DE-8517-8B9AD2C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CD799-850D-43EA-B1B2-A74172D9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DF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07553-4CF0-4E2C-86E2-FE8CA05E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Study chat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E08C3-246D-4025-89C0-105CA985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432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84831-F0A6-49F1-ACBC-2BB5D8CF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76B1D-C92F-48FE-AEF1-DB30A21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9A749-CAD5-487B-9965-0A08DEB8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C74F3-2625-4AA6-A630-2FF797A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3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59F44-4E95-4690-AA20-3377DB55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A697C-5C1F-4522-AB39-7DBE84C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036D4-B743-4541-96BF-AC9E29E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DFC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0245A-3C78-4BDB-999B-B7F823A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EC6D9-62CB-431F-98DD-93DE8D3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4fd62abed40cb"/>
          <a:srcRect xmlns:a="http://schemas.openxmlformats.org/drawingml/2006/main" l="0" t="8214" r="0" b="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9FA79-1C3E-4AC9-87E6-125B03C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7E853-0B4A-4CBE-9096-C8EE3F10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3238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45354-937D-47DC-AFA1-477608D3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625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Built around student momentum</a:t>
            </a:r>
          </a:p>
        </p:txBody>
      </p:sp>
    </p:spTree>
    <p:extLst>
      <p:ext uri="{BB962C8B-B14F-4D97-AF65-F5344CB8AC3E}">
        <p14:creationId xmlns:p14="http://schemas.microsoft.com/office/powerpoint/2010/main" val="461284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FEE0F-145C-4C07-802E-D6BCA0FB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260F6-D771-469C-81A3-DEF26143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ECAF4-4908-4C45-A4A4-1D90C9B4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1B606-99D9-4125-83B2-D678D67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05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6F0B5-E4AD-4EF8-AE65-A936756B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8D4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D49B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F72B6-303A-4460-83DC-A33E69B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 simple architecture keeps the experience responsive and controlled.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6F42-00DF-4560-BB8D-0A0A27E7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backend owns data and AI requests. The frontend focuses on clear interactions.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8DE29-799B-4492-B4E2-C462271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D4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FEF4C-BE86-4F67-9A92-121EEA2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901C5-B091-433C-9DEE-C7A5D5C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React / 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6ABC7-1D85-4429-9FAB-3708E6C3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924BF-D8AD-4ADE-A6E9-2625DEB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D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3745F-2E96-4BDF-AF78-64F2C108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066AC-BF6B-4B4E-A999-0D25880F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FastAPI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FFF4E-28AC-44D6-949A-1E3478F4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4A210-4954-4D1E-B381-769645CE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F6522-BE05-4800-B263-133FEB9A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6F594-0F52-44B7-A3DA-0188041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SQLite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01927-E85C-4BA0-9C6F-094BD722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99116-FD88-4596-A033-590FA7C4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D36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24E3F-04B0-4205-94EB-07B999F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STUDY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A10D3-F5CF-4C52-988C-81264C93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PDF +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6B044-ABA1-4E86-9542-A7F03F27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Browser  →  Backend  →  Storage and study intelligence</a:t>
            </a:r>
          </a:p>
        </p:txBody>
      </p:sp>
    </p:spTree>
    <p:extLst>
      <p:ext uri="{BB962C8B-B14F-4D97-AF65-F5344CB8AC3E}">
        <p14:creationId xmlns:p14="http://schemas.microsoft.com/office/powerpoint/2010/main" val="2008486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9C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ADEBD-0A2E-43E3-A351-B6B4D76B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0C296-8EB7-4E13-B398-B12894EF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E6474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8590E-B817-418B-974B-5DA44FFA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06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4AD44-0898-41B2-94B6-9E85AFE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BACKEND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EF145-21BD-4FEB-8323-01761D8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A request becomes a useful study result through clear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25938-5628-43D9-B443-B8E08CA3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FastAPI exposes the routes. SQLite persists the study experience.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930ed7ce0444b"/>
          <a:srcRect xmlns:a="http://schemas.openxmlformats.org/drawingml/2006/main" l="10588" t="0" r="10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42A4A-2E33-4F66-8B7A-0FE63B1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EDBA2-4D33-4640-AE3C-E64EFCAB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7D3D5-9A79-4289-A737-7C83EDF8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76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83A"/>
                </a:solidFill>
                <a:latin typeface="Arial"/>
                <a:ea typeface="Arial"/>
                <a:cs typeface="Arial"/>
              </a:rPr>
              <a:t>Accounts and protected personal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738E2-10DD-4D32-9121-1AF82D22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1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3BF9A-0785-4746-813E-FADA19A6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Material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E1A22-3739-4056-A865-D0D2FCB1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956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83A"/>
                </a:solidFill>
                <a:latin typeface="Arial"/>
                <a:ea typeface="Arial"/>
                <a:cs typeface="Arial"/>
              </a:rPr>
              <a:t>PDF text becomes smaller searchable chunks.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7E2F4-B5D5-4DAD-AEB5-3DF87E4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1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10A1D-93CB-450A-8C48-F2F7587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Study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52552-1B82-4936-87B8-0EB87679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147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83A"/>
                </a:solidFill>
                <a:latin typeface="Arial"/>
                <a:ea typeface="Arial"/>
                <a:cs typeface="Arial"/>
              </a:rPr>
              <a:t>Chat, flashcards and quiz requests reach the study service.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13019-4F72-4660-A979-A41FEAB0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1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AA4E9-FFC8-4DC9-822F-027C0695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25B65-DE01-44F3-AC83-7E3E8D4D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83A"/>
                </a:solidFill>
                <a:latin typeface="Arial"/>
                <a:ea typeface="Arial"/>
                <a:cs typeface="Arial"/>
              </a:rPr>
              <a:t>Profiles, tasks and active context are saved locally.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3F007-5678-4BF5-8856-3490F5AB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18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639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68B46-5E43-4F46-989B-417DE306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47A9-7DD9-428A-B713-163BFC33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A777B-B831-4484-8656-EF6847E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6BE14-B603-4E87-98B7-30EEF8CB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07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3C35C-F8E6-4192-89E0-7279F15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8D4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D49B"/>
                </a:solidFill>
                <a:latin typeface="Arial"/>
                <a:ea typeface="Arial"/>
                <a:cs typeface="Arial"/>
              </a:rPr>
              <a:t>GROUNDED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19585-AD78-4E5D-98A6-BA9A77A5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Study answers start with the student’s chosen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4170A-AF6A-4013-B99E-844BBB2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Retrieval finds relevant chunks before a response or practice item is generated.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66658-CE08-4E40-9B76-A6E734BC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B41EC-9886-4AAA-AF78-9B3E91BF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A187A-9EC5-4E2D-A9EA-C4BA7314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UPLOAD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CE88F-EF54-4E0A-A28D-3F713C31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Read the document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42C8E-D67F-4F18-9B15-B82AD7C4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70BC1-F985-4A8A-ACDB-E025CDC8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525F9-93F3-4FB9-BF9F-CBCB369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CHUNK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3EB1D-FA78-4FC7-879E-8064EE21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Split it into searchable pieces.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B4CCF-077F-4CDC-A746-26F0217C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CFC3D-798A-435E-B611-C82B0C9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240C1-B972-4459-9229-3DB8F519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FIND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4039F-F523-46ED-B297-C9D6DDB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Retrieve material related to the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87649-DF9C-499A-8FE1-9A5D389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AA77D-3611-4885-8210-469EF02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1C6FB-ED2F-471E-859B-8049379D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AA185-64DD-4638-8EA1-C420846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Generate a helpful answer or practice item.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34B3A-A01A-4F49-8BDD-A4D6CE82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The project answers using the learner’s selected study source, not only a generic prompt.</a:t>
            </a:r>
          </a:p>
        </p:txBody>
      </p:sp>
    </p:spTree>
    <p:extLst>
      <p:ext uri="{BB962C8B-B14F-4D97-AF65-F5344CB8AC3E}">
        <p14:creationId xmlns:p14="http://schemas.microsoft.com/office/powerpoint/2010/main" val="682053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84FE2-5F1A-4E17-B5A3-D3A3C4FE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EDEB1-72E0-4AAB-AB83-3EF6D2E5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1FCD9-049D-4961-B3F5-F550DA9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609A2-4B34-4526-8BD2-091FEDCE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08  · 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01A88-EBDD-4879-A1D6-FE50B27B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8D4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D49B"/>
                </a:solidFill>
                <a:latin typeface="Arial"/>
                <a:ea typeface="Arial"/>
                <a:cs typeface="Arial"/>
              </a:rPr>
              <a:t>FRONTEND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818A6-A529-4A74-BDE7-45982D58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The interface makes each study task feel clear and inviting.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57DCB-7F97-4B42-BCD7-4B3B1FDC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c9f933a174f41"/>
          <a:srcRect xmlns:a="http://schemas.openxmlformats.org/drawingml/2006/main" l="7542" t="0" r="75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50084-6263-4182-9820-524D2B64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CE5F3-2ABD-4551-847D-BC5DDC47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191125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454EF-085F-42D8-8241-856DAA03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React + 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1425E-194D-4FC3-AE31-537AE7E4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Clear page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F2D09-C085-47EB-B07B-F367A980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Dashboard, library, chat, quizzes, planner and profile all use reusable components.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0E8F7-6B2E-430B-B9A3-B0EC2F9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7DF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DFC9"/>
                </a:solidFill>
                <a:latin typeface="Arial"/>
                <a:ea typeface="Arial"/>
                <a:cs typeface="Arial"/>
              </a:rPr>
              <a:t>Responsive styling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615FB-5B5B-403D-AD4B-7B50277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Layouts adapt across common desktop and mobile widths.</a:t>
            </a:r>
          </a:p>
        </p:txBody>
      </p:sp>
    </p:spTree>
    <p:extLst>
      <p:ext uri="{BB962C8B-B14F-4D97-AF65-F5344CB8AC3E}">
        <p14:creationId xmlns:p14="http://schemas.microsoft.com/office/powerpoint/2010/main" val="364133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E9C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04950-A14C-478A-9C1D-62F23F1C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F80C4-F1FE-4857-B91C-CEC4961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E6474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BFE3D-DAF9-4E85-A351-058DA85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09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903D9-F2FE-4EE5-8A3D-F09D6200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DESIGNED FOR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C1645-9FF2-4E94-B557-FA733304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Less visual noise. More confidence about what to do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67D8C-FFE0-4439-A530-9C6017AE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The UI uses a warm studio look with simple hierarchy and study-focused actions.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fa2b0176142bf"/>
          <a:srcRect xmlns:a="http://schemas.openxmlformats.org/drawingml/2006/main" l="0" t="15298" r="0" b="15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9DB0B-3E98-4A75-B9F2-AA8C633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c9d2623034426"/>
          <a:srcRect xmlns:a="http://schemas.openxmlformats.org/drawingml/2006/main" l="0" t="22473" r="0" b="22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6050E-44C2-4A6A-914C-91CECC7E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D27FF-7DA7-456B-BCAA-C17F788E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D49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DC853-E264-43D5-999F-D6D5CE28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292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8A6C9-50BF-4149-B313-655AA44B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2152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7FE54-C56E-4008-8D6A-71B1686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292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ASK WITH CONTEXT</a:t>
            </a:r>
          </a:p>
        </p:txBody>
      </p:sp>
    </p:spTree>
    <p:extLst>
      <p:ext uri="{BB962C8B-B14F-4D97-AF65-F5344CB8AC3E}">
        <p14:creationId xmlns:p14="http://schemas.microsoft.com/office/powerpoint/2010/main" val="1884781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E9C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642B0-923B-482C-99B8-1207E9E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230B3-C9E3-452E-9413-968A082A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E6474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602E1-8996-487C-8888-F6134BC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10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A6AFD-71FC-473D-852B-C6FB35BE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PERSONAL, NOT GENERIC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D8B6B-9234-4949-850E-B2EDC47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Profile settings and a 3D-styled avatar make the space feel owned.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0D906-C8CE-47BA-9125-BC036D3D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CF3FA-9E99-41E7-8FEA-2783689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5334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9905C-90F9-417A-895D-BF6C3F94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 student can personalise their study space with: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2008-FE9C-45E2-99B2-D698F6DD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33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profile preferences</a:t>
            </a:r>
          </a:p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theme selection</a:t>
            </a:r>
          </a:p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gender-aware avatar options</a:t>
            </a:r>
          </a:p>
          <a:p xmlns:a="http://schemas.openxmlformats.org/drawingml/2006/main">
            <a:pPr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a 3D-styled custom avatar experience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e6133618346c7"/>
          <a:srcRect xmlns:a="http://schemas.openxmlformats.org/drawingml/2006/main" l="0" t="12771" r="0" b="12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E2D3F-BCBB-457A-8079-97E2D0CA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5681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0924E-E86B-4911-BB3C-16A5E30D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F9AB5-B1F3-4594-8782-11544C98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A52D0-9C43-454A-B563-D2ABB632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AEE8E-4B3F-40A3-AD4F-1F4ED8CA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11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245E1-3BEC-40D0-9F73-7E864382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8D4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D49B"/>
                </a:solidFill>
                <a:latin typeface="Arial"/>
                <a:ea typeface="Arial"/>
                <a:cs typeface="Arial"/>
              </a:rPr>
              <a:t>PRACTICE THAT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AABF6-B22D-4D12-9B59-0041B541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Questions should cover different ideas, not repeat the same 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7DDE7-0EAB-4A0C-918E-806C8B8E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quiz and flashcard flow is designed for variety and a reliable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BD762-6F5D-4FE6-AB20-6CF4D34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D4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681E-BD81-439C-8DCB-5F96406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87F08-F0A2-41B6-971A-B38C0C14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Broader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8FDCE-3192-48E5-99B8-19A2ED19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Prompts request several distinct concepts.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34321-3414-4B74-AC73-EC762C2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7D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65628-9923-43FA-82B8-FA4D099C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D4050-2E9E-47AC-A293-52C7A703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Duplicate 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F8CFF-ACCD-4CF0-B93C-FF59571E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Similarity checks remove near-repeat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79A10-2A60-44C9-AB0A-8B5D1447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83DB8-372F-4393-89DB-80E8CB7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17B9B-ED80-4906-861A-CA0A5E4B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Topic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28987-F196-4220-BA61-8046475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Focus labels show what each item tests.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01c1bbea742a5"/>
          <a:srcRect xmlns:a="http://schemas.openxmlformats.org/drawingml/2006/main" l="20217" t="0" r="202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07FD3-A059-44B9-B6C1-3A8EB0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D5E89-7D95-4A72-8C14-12AB6FF0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If an external AI provider is busy, a local quiz is built from saved material chunks.</a:t>
            </a:r>
          </a:p>
        </p:txBody>
      </p:sp>
    </p:spTree>
    <p:extLst>
      <p:ext uri="{BB962C8B-B14F-4D97-AF65-F5344CB8AC3E}">
        <p14:creationId xmlns:p14="http://schemas.microsoft.com/office/powerpoint/2010/main" val="16958938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E9C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F0334-4FF2-4549-B9B2-2F472468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4C5F3-AFD6-436C-9BF0-9346FC59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E6474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450E5-0249-4191-A189-CF80F01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12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C968E-EFDC-4B13-85FF-FB389507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VALIDATED END TO 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CB0B9-0D47-49F9-B9A4-21D52BE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The project was checked from backend behaviour to the running frontend.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93D8F-7B08-48CB-8D22-44BC17D7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4"/>
                </a:solidFill>
                <a:latin typeface="Arial"/>
                <a:ea typeface="Arial"/>
                <a:cs typeface="Arial"/>
              </a:rPr>
              <a:t>The aim was to verify useful outcomes, not only show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202A1-D7E9-4FAD-9C4E-01871E2F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7DF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2304C-F52F-4006-BC0D-397C6FBF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58195-292E-419D-A92F-C9D2964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targeted backend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CC5B8-5A6D-4232-B025-A6ADBFC5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D4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BAE06-4639-417B-9350-CF41397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53842-8B48-4C89-96AA-E002A5D1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direct fallback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C1C73-7158-48FC-8F97-F46FC60B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F606A-2452-4BC2-897A-F4BCF95C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8CD26-97DE-4571-8D9F-1BCCA91E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presentation slides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B96F1-4A15-425F-A3D9-4EDEE23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D3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82F1F-C651-48D5-9379-883A10F8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5096A-4699-4E1F-9553-91DFB270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running local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4E16C-19DC-4689-B242-23CD5B7C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91"/>
                </a:solidFill>
                <a:latin typeface="Arial"/>
                <a:ea typeface="Arial"/>
                <a:cs typeface="Arial"/>
              </a:rPr>
              <a:t>Backend reliability tests · local quiz fallback · frontend production build · browser review</a:t>
            </a:r>
          </a:p>
        </p:txBody>
      </p:sp>
    </p:spTree>
    <p:extLst>
      <p:ext uri="{BB962C8B-B14F-4D97-AF65-F5344CB8AC3E}">
        <p14:creationId xmlns:p14="http://schemas.microsoft.com/office/powerpoint/2010/main" val="778646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D6BE6-71EC-4A3E-B062-975732E1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F0182-F8FC-48B5-AC9B-9FD7876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61721-F0AC-4DC9-8001-0325515A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6201B-4D6E-4C5D-A011-CBC73A83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13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90BED-60F4-4C68-9FE8-80B6573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8D4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D49B"/>
                </a:solidFill>
                <a:latin typeface="Arial"/>
                <a:ea typeface="Arial"/>
                <a:cs typeface="Arial"/>
              </a:rPr>
              <a:t>NEXT ITERATION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8BB10-5760-46F5-A354-ED787F9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 strong foundation leaves room for a smarter study companion.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D089D-6173-4B1A-89DC-5F47643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Future additions can deepen the same student workflow rather than change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D258E-5519-4D8A-BD35-CF76C18B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96802-EEB3-4A5B-A2B7-403454E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Feedback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533CD-C6A8-4379-9E3F-B193FE36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8E8"/>
                </a:solidFill>
                <a:latin typeface="Arial"/>
                <a:ea typeface="Arial"/>
                <a:cs typeface="Arial"/>
              </a:rPr>
              <a:t>Let students rate cards and quizzes.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6BF34-4F2A-460F-BED7-ADE64EB5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47E39-64CB-4504-A98A-774A9E34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Learning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73C5D-82F6-4480-94E1-BCE57FAA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8E8"/>
                </a:solidFill>
                <a:latin typeface="Arial"/>
                <a:ea typeface="Arial"/>
                <a:cs typeface="Arial"/>
              </a:rPr>
              <a:t>Show weak topics and revision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581C1-261A-4A80-A6E3-97A4FF59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D1A9E-68B7-4CE4-B02E-0DAC6A3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31211-AF33-4B21-A023-05F9E62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8E8"/>
                </a:solidFill>
                <a:latin typeface="Arial"/>
                <a:ea typeface="Arial"/>
                <a:cs typeface="Arial"/>
              </a:rPr>
              <a:t>Support notes, images and subject templates.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2c78534ab4810"/>
          <a:srcRect xmlns:a="http://schemas.openxmlformats.org/drawingml/2006/main" l="7562" t="0" r="75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4FB62-6568-4B3F-99C1-AE7AACCA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D49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38145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30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7A5F1-BD34-43D3-9DCB-6F23C90B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0B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43DC-EAA7-4266-A23A-4BCB98F2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69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D63C0-6623-43DF-8277-859519A6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0689E-B8B6-4312-B74D-12A79BF2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14  ·  Shared demo and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19498-20A9-4D0C-8B9A-AEC652F2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B0E9A-7F0B-4E21-AC7F-B5E3FA3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See the study loop</a:t>
            </a:r>
          </a:p>
          <a:p xmlns:a="http://schemas.openxmlformats.org/drawingml/2006/main">
            <a:pPr>
              <a:defRPr sz="4050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in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B9CC9-A72B-4AFB-8156-889F432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Sign in  →  Select material  →  Ask a question  →  Generate a quiz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9792B-A09D-40E1-89A4-2A2BE774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9913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B0F72-DED2-44D0-85F5-F42B7A2E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6DA0E-687C-46F1-B922-C85BD97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Thank you for your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3E760-2E37-4D80-94EB-6872EF07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8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8E8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EE332-501E-4768-B58B-1A4D3DD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D6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D696"/>
                </a:solidFill>
                <a:latin typeface="Arial"/>
                <a:ea typeface="Arial"/>
                <a:cs typeface="Arial"/>
              </a:rPr>
              <a:t>StudyForge AI</a:t>
            </a:r>
          </a:p>
        </p:txBody>
      </p:sp>
    </p:spTree>
    <p:extLst>
      <p:ext uri="{BB962C8B-B14F-4D97-AF65-F5344CB8AC3E}">
        <p14:creationId xmlns:p14="http://schemas.microsoft.com/office/powerpoint/2010/main" val="1110003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2026-10-05T14:58:35.2510000Z</dcterms:created>
  <dcterms:modified xsi:type="dcterms:W3CDTF">2026-10-05T14:58:35.2510000Z</dcterms:modified>
</coreProperties>
</file>